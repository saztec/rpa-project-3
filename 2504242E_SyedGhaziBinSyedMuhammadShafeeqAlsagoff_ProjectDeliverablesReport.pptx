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73" r:id="rId7"/>
    <p:sldId id="258" r:id="rId8"/>
    <p:sldId id="259" r:id="rId9"/>
    <p:sldId id="279" r:id="rId10"/>
    <p:sldId id="278" r:id="rId11"/>
    <p:sldId id="277" r:id="rId12"/>
    <p:sldId id="276" r:id="rId13"/>
    <p:sldId id="275" r:id="rId14"/>
    <p:sldId id="274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1CDC27-C62D-1EFD-520A-E66E905EDA5C}" name="Josh Yan LIAO (TP)" initials="JYL(" userId="S::joshyan@tp.edu.sg::34d2b495-187b-482c-9c38-d8f66a623d97" providerId="AD"/>
  <p188:author id="{6B0CF745-7F3E-21BD-91D1-F94DD3EB8481}" name="Chaw Poh CHIA (TP)" initials="CC" userId="S::cpchia@tp.edu.sg::7420a7be-4c5b-4588-aaec-7b5525320687" providerId="AD"/>
  <p188:author id="{4595C397-F992-4D59-00DF-77DC5F278A5B}" name="Sio Poh TAN (TP)" initials="ST" userId="S::siopoh@TP.EDU.SG::885feb22-6b5b-41f3-afa3-2d4a0d0c4942" providerId="AD"/>
  <p188:author id="{9FDFECDC-7DC0-64A7-D7A8-6430072BA26E}" name="Andrew CHONG (TP)" initials="AC" userId="S::chongkt@TP.EDU.SG::d8aae822-b943-4f37-9b72-7581d42c47a4" providerId="AD"/>
  <p188:author id="{A643E2DD-6BB2-4C4A-6D1B-9C103A60EE4C}" name="Gordon HOI (TP)" initials="GH" userId="S::gordon@tp.edu.sg::951b617f-e6fd-47f4-a908-ed470453a6b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080" autoAdjust="0"/>
    <p:restoredTop sz="94660"/>
  </p:normalViewPr>
  <p:slideViewPr>
    <p:cSldViewPr snapToGrid="0">
      <p:cViewPr varScale="1">
        <p:scale>
          <a:sx n="88" d="100"/>
          <a:sy n="88" d="100"/>
        </p:scale>
        <p:origin x="68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azi Alsagoff" userId="903250ee2ac25176" providerId="LiveId" clId="{2E88CD6D-FFA1-4883-81D5-D359BC4A1E2F}"/>
    <pc:docChg chg="undo custSel modSld">
      <pc:chgData name="Ghazi Alsagoff" userId="903250ee2ac25176" providerId="LiveId" clId="{2E88CD6D-FFA1-4883-81D5-D359BC4A1E2F}" dt="2026-08-12T08:29:56.569" v="172" actId="1035"/>
      <pc:docMkLst>
        <pc:docMk/>
      </pc:docMkLst>
      <pc:sldChg chg="addSp delSp modSp mod">
        <pc:chgData name="Ghazi Alsagoff" userId="903250ee2ac25176" providerId="LiveId" clId="{2E88CD6D-FFA1-4883-81D5-D359BC4A1E2F}" dt="2026-08-05T05:42:52.367" v="6" actId="1076"/>
        <pc:sldMkLst>
          <pc:docMk/>
          <pc:sldMk cId="853671945" sldId="258"/>
        </pc:sldMkLst>
        <pc:picChg chg="add mod">
          <ac:chgData name="Ghazi Alsagoff" userId="903250ee2ac25176" providerId="LiveId" clId="{2E88CD6D-FFA1-4883-81D5-D359BC4A1E2F}" dt="2026-08-05T05:42:52.367" v="6" actId="1076"/>
          <ac:picMkLst>
            <pc:docMk/>
            <pc:sldMk cId="853671945" sldId="258"/>
            <ac:picMk id="6" creationId="{705DA993-3860-AF21-381F-6B18D64DEC87}"/>
          </ac:picMkLst>
        </pc:picChg>
      </pc:sldChg>
      <pc:sldChg chg="addSp delSp modSp mod setBg">
        <pc:chgData name="Ghazi Alsagoff" userId="903250ee2ac25176" providerId="LiveId" clId="{2E88CD6D-FFA1-4883-81D5-D359BC4A1E2F}" dt="2026-08-12T08:29:56.569" v="172" actId="1035"/>
        <pc:sldMkLst>
          <pc:docMk/>
          <pc:sldMk cId="21810516" sldId="259"/>
        </pc:sldMkLst>
        <pc:spChg chg="mod ord">
          <ac:chgData name="Ghazi Alsagoff" userId="903250ee2ac25176" providerId="LiveId" clId="{2E88CD6D-FFA1-4883-81D5-D359BC4A1E2F}" dt="2026-08-05T05:57:27.871" v="23" actId="26606"/>
          <ac:spMkLst>
            <pc:docMk/>
            <pc:sldMk cId="21810516" sldId="259"/>
            <ac:spMk id="2" creationId="{2A3B387C-33A5-2FAA-C6FB-335BF74F5C19}"/>
          </ac:spMkLst>
        </pc:spChg>
        <pc:spChg chg="mod ord">
          <ac:chgData name="Ghazi Alsagoff" userId="903250ee2ac25176" providerId="LiveId" clId="{2E88CD6D-FFA1-4883-81D5-D359BC4A1E2F}" dt="2026-08-05T05:57:27.871" v="23" actId="26606"/>
          <ac:spMkLst>
            <pc:docMk/>
            <pc:sldMk cId="21810516" sldId="259"/>
            <ac:spMk id="3" creationId="{90E90BAF-F558-4D03-CB1D-DA51EAD8A35B}"/>
          </ac:spMkLst>
        </pc:spChg>
        <pc:spChg chg="add">
          <ac:chgData name="Ghazi Alsagoff" userId="903250ee2ac25176" providerId="LiveId" clId="{2E88CD6D-FFA1-4883-81D5-D359BC4A1E2F}" dt="2026-08-05T05:57:27.871" v="23" actId="26606"/>
          <ac:spMkLst>
            <pc:docMk/>
            <pc:sldMk cId="21810516" sldId="259"/>
            <ac:spMk id="19" creationId="{AC0D06B0-F19C-459E-B221-A34B506FB5E3}"/>
          </ac:spMkLst>
        </pc:spChg>
        <pc:spChg chg="add">
          <ac:chgData name="Ghazi Alsagoff" userId="903250ee2ac25176" providerId="LiveId" clId="{2E88CD6D-FFA1-4883-81D5-D359BC4A1E2F}" dt="2026-08-05T05:57:27.871" v="23" actId="26606"/>
          <ac:spMkLst>
            <pc:docMk/>
            <pc:sldMk cId="21810516" sldId="259"/>
            <ac:spMk id="20" creationId="{A3C210E6-A35A-4F68-8D60-801A019C75B8}"/>
          </ac:spMkLst>
        </pc:spChg>
        <pc:spChg chg="add">
          <ac:chgData name="Ghazi Alsagoff" userId="903250ee2ac25176" providerId="LiveId" clId="{2E88CD6D-FFA1-4883-81D5-D359BC4A1E2F}" dt="2026-08-05T05:57:27.871" v="23" actId="26606"/>
          <ac:spMkLst>
            <pc:docMk/>
            <pc:sldMk cId="21810516" sldId="259"/>
            <ac:spMk id="21" creationId="{345B26DA-1C6B-4C66-81C9-9C1877FC2DB1}"/>
          </ac:spMkLst>
        </pc:spChg>
        <pc:spChg chg="add">
          <ac:chgData name="Ghazi Alsagoff" userId="903250ee2ac25176" providerId="LiveId" clId="{2E88CD6D-FFA1-4883-81D5-D359BC4A1E2F}" dt="2026-08-05T05:57:27.871" v="23" actId="26606"/>
          <ac:spMkLst>
            <pc:docMk/>
            <pc:sldMk cId="21810516" sldId="259"/>
            <ac:spMk id="23" creationId="{98DE6C44-43F8-4DE4-AB81-66853FFEA09A}"/>
          </ac:spMkLst>
        </pc:spChg>
        <pc:spChg chg="add">
          <ac:chgData name="Ghazi Alsagoff" userId="903250ee2ac25176" providerId="LiveId" clId="{2E88CD6D-FFA1-4883-81D5-D359BC4A1E2F}" dt="2026-08-05T05:57:27.871" v="23" actId="26606"/>
          <ac:spMkLst>
            <pc:docMk/>
            <pc:sldMk cId="21810516" sldId="259"/>
            <ac:spMk id="25" creationId="{2409529B-9B56-4F10-BE4D-F934DB89E57E}"/>
          </ac:spMkLst>
        </pc:spChg>
        <pc:picChg chg="add mod modCrop">
          <ac:chgData name="Ghazi Alsagoff" userId="903250ee2ac25176" providerId="LiveId" clId="{2E88CD6D-FFA1-4883-81D5-D359BC4A1E2F}" dt="2026-08-12T08:29:56.569" v="172" actId="1035"/>
          <ac:picMkLst>
            <pc:docMk/>
            <pc:sldMk cId="21810516" sldId="259"/>
            <ac:picMk id="6" creationId="{042485B6-BFEF-CA42-19CC-C66BD0B1E098}"/>
          </ac:picMkLst>
        </pc:picChg>
        <pc:picChg chg="add mod">
          <ac:chgData name="Ghazi Alsagoff" userId="903250ee2ac25176" providerId="LiveId" clId="{2E88CD6D-FFA1-4883-81D5-D359BC4A1E2F}" dt="2026-08-05T05:57:27.848" v="22" actId="26606"/>
          <ac:picMkLst>
            <pc:docMk/>
            <pc:sldMk cId="21810516" sldId="259"/>
            <ac:picMk id="8" creationId="{F9D41BA3-1FB5-5B64-EE2B-E6EA78475022}"/>
          </ac:picMkLst>
        </pc:picChg>
        <pc:picChg chg="add mod">
          <ac:chgData name="Ghazi Alsagoff" userId="903250ee2ac25176" providerId="LiveId" clId="{2E88CD6D-FFA1-4883-81D5-D359BC4A1E2F}" dt="2026-08-05T05:57:27.871" v="23" actId="26606"/>
          <ac:picMkLst>
            <pc:docMk/>
            <pc:sldMk cId="21810516" sldId="259"/>
            <ac:picMk id="10" creationId="{C760DBA0-0F88-2FAF-5681-99246C6E4539}"/>
          </ac:picMkLst>
        </pc:picChg>
        <pc:picChg chg="add mod ord">
          <ac:chgData name="Ghazi Alsagoff" userId="903250ee2ac25176" providerId="LiveId" clId="{2E88CD6D-FFA1-4883-81D5-D359BC4A1E2F}" dt="2026-08-05T05:57:27.871" v="23" actId="26606"/>
          <ac:picMkLst>
            <pc:docMk/>
            <pc:sldMk cId="21810516" sldId="259"/>
            <ac:picMk id="12" creationId="{4A62D35E-A271-7A5C-3A3B-84E406877C1C}"/>
          </ac:picMkLst>
        </pc:picChg>
      </pc:sldChg>
      <pc:sldChg chg="modSp mod">
        <pc:chgData name="Ghazi Alsagoff" userId="903250ee2ac25176" providerId="LiveId" clId="{2E88CD6D-FFA1-4883-81D5-D359BC4A1E2F}" dt="2026-08-12T08:14:59.994" v="164" actId="255"/>
        <pc:sldMkLst>
          <pc:docMk/>
          <pc:sldMk cId="4235204333" sldId="261"/>
        </pc:sldMkLst>
        <pc:spChg chg="mod">
          <ac:chgData name="Ghazi Alsagoff" userId="903250ee2ac25176" providerId="LiveId" clId="{2E88CD6D-FFA1-4883-81D5-D359BC4A1E2F}" dt="2026-08-12T08:14:59.994" v="164" actId="255"/>
          <ac:spMkLst>
            <pc:docMk/>
            <pc:sldMk cId="4235204333" sldId="261"/>
            <ac:spMk id="3" creationId="{50F2097F-0ED1-C88A-15A0-FAD3C71609E2}"/>
          </ac:spMkLst>
        </pc:spChg>
      </pc:sldChg>
      <pc:sldChg chg="modSp mod">
        <pc:chgData name="Ghazi Alsagoff" userId="903250ee2ac25176" providerId="LiveId" clId="{2E88CD6D-FFA1-4883-81D5-D359BC4A1E2F}" dt="2026-08-05T19:10:02.695" v="41" actId="255"/>
        <pc:sldMkLst>
          <pc:docMk/>
          <pc:sldMk cId="3686551058" sldId="274"/>
        </pc:sldMkLst>
        <pc:spChg chg="mod">
          <ac:chgData name="Ghazi Alsagoff" userId="903250ee2ac25176" providerId="LiveId" clId="{2E88CD6D-FFA1-4883-81D5-D359BC4A1E2F}" dt="2026-08-05T19:10:02.695" v="41" actId="255"/>
          <ac:spMkLst>
            <pc:docMk/>
            <pc:sldMk cId="3686551058" sldId="274"/>
            <ac:spMk id="3" creationId="{69544CB8-CB1F-D855-A8CE-8F9AB72229AC}"/>
          </ac:spMkLst>
        </pc:spChg>
      </pc:sldChg>
      <pc:sldChg chg="addSp delSp modSp mod">
        <pc:chgData name="Ghazi Alsagoff" userId="903250ee2ac25176" providerId="LiveId" clId="{2E88CD6D-FFA1-4883-81D5-D359BC4A1E2F}" dt="2026-08-06T01:18:21.841" v="97" actId="1076"/>
        <pc:sldMkLst>
          <pc:docMk/>
          <pc:sldMk cId="21810516" sldId="275"/>
        </pc:sldMkLst>
        <pc:spChg chg="mod">
          <ac:chgData name="Ghazi Alsagoff" userId="903250ee2ac25176" providerId="LiveId" clId="{2E88CD6D-FFA1-4883-81D5-D359BC4A1E2F}" dt="2026-08-06T01:18:08.070" v="93" actId="14100"/>
          <ac:spMkLst>
            <pc:docMk/>
            <pc:sldMk cId="21810516" sldId="275"/>
            <ac:spMk id="2" creationId="{2A3B387C-33A5-2FAA-C6FB-335BF74F5C19}"/>
          </ac:spMkLst>
        </pc:spChg>
        <pc:picChg chg="add mod">
          <ac:chgData name="Ghazi Alsagoff" userId="903250ee2ac25176" providerId="LiveId" clId="{2E88CD6D-FFA1-4883-81D5-D359BC4A1E2F}" dt="2026-08-06T01:18:11.229" v="94" actId="1076"/>
          <ac:picMkLst>
            <pc:docMk/>
            <pc:sldMk cId="21810516" sldId="275"/>
            <ac:picMk id="7" creationId="{69BB5475-C13C-C293-6483-DBBF22D72EA7}"/>
          </ac:picMkLst>
        </pc:picChg>
        <pc:picChg chg="add mod">
          <ac:chgData name="Ghazi Alsagoff" userId="903250ee2ac25176" providerId="LiveId" clId="{2E88CD6D-FFA1-4883-81D5-D359BC4A1E2F}" dt="2026-08-06T01:18:17.589" v="96" actId="1076"/>
          <ac:picMkLst>
            <pc:docMk/>
            <pc:sldMk cId="21810516" sldId="275"/>
            <ac:picMk id="9" creationId="{6AB43F09-DFCD-5E9F-4645-1837E8E0A6D7}"/>
          </ac:picMkLst>
        </pc:picChg>
        <pc:picChg chg="add mod">
          <ac:chgData name="Ghazi Alsagoff" userId="903250ee2ac25176" providerId="LiveId" clId="{2E88CD6D-FFA1-4883-81D5-D359BC4A1E2F}" dt="2026-08-06T01:18:21.841" v="97" actId="1076"/>
          <ac:picMkLst>
            <pc:docMk/>
            <pc:sldMk cId="21810516" sldId="275"/>
            <ac:picMk id="11" creationId="{789EAB94-8BF5-2A51-67D2-F2727972BDE9}"/>
          </ac:picMkLst>
        </pc:picChg>
      </pc:sldChg>
      <pc:sldChg chg="addSp delSp modSp mod setBg">
        <pc:chgData name="Ghazi Alsagoff" userId="903250ee2ac25176" providerId="LiveId" clId="{2E88CD6D-FFA1-4883-81D5-D359BC4A1E2F}" dt="2026-08-06T01:22:19.537" v="117" actId="26606"/>
        <pc:sldMkLst>
          <pc:docMk/>
          <pc:sldMk cId="21810516" sldId="276"/>
        </pc:sldMkLst>
        <pc:spChg chg="mod">
          <ac:chgData name="Ghazi Alsagoff" userId="903250ee2ac25176" providerId="LiveId" clId="{2E88CD6D-FFA1-4883-81D5-D359BC4A1E2F}" dt="2026-08-06T01:22:19.537" v="117" actId="26606"/>
          <ac:spMkLst>
            <pc:docMk/>
            <pc:sldMk cId="21810516" sldId="276"/>
            <ac:spMk id="2" creationId="{2A3B387C-33A5-2FAA-C6FB-335BF74F5C19}"/>
          </ac:spMkLst>
        </pc:spChg>
        <pc:spChg chg="mod">
          <ac:chgData name="Ghazi Alsagoff" userId="903250ee2ac25176" providerId="LiveId" clId="{2E88CD6D-FFA1-4883-81D5-D359BC4A1E2F}" dt="2026-08-06T01:22:19.537" v="117" actId="26606"/>
          <ac:spMkLst>
            <pc:docMk/>
            <pc:sldMk cId="21810516" sldId="276"/>
            <ac:spMk id="3" creationId="{90E90BAF-F558-4D03-CB1D-DA51EAD8A35B}"/>
          </ac:spMkLst>
        </pc:spChg>
        <pc:spChg chg="add">
          <ac:chgData name="Ghazi Alsagoff" userId="903250ee2ac25176" providerId="LiveId" clId="{2E88CD6D-FFA1-4883-81D5-D359BC4A1E2F}" dt="2026-08-06T01:22:19.537" v="117" actId="26606"/>
          <ac:spMkLst>
            <pc:docMk/>
            <pc:sldMk cId="21810516" sldId="276"/>
            <ac:spMk id="33" creationId="{5EBC18B6-E5C3-4AD1-97A4-E6A3477A0BB9}"/>
          </ac:spMkLst>
        </pc:spChg>
        <pc:spChg chg="add">
          <ac:chgData name="Ghazi Alsagoff" userId="903250ee2ac25176" providerId="LiveId" clId="{2E88CD6D-FFA1-4883-81D5-D359BC4A1E2F}" dt="2026-08-06T01:22:19.537" v="117" actId="26606"/>
          <ac:spMkLst>
            <pc:docMk/>
            <pc:sldMk cId="21810516" sldId="276"/>
            <ac:spMk id="35" creationId="{136A4AB6-B72B-4CC6-ADCF-BE807B6C3D71}"/>
          </ac:spMkLst>
        </pc:spChg>
        <pc:spChg chg="add">
          <ac:chgData name="Ghazi Alsagoff" userId="903250ee2ac25176" providerId="LiveId" clId="{2E88CD6D-FFA1-4883-81D5-D359BC4A1E2F}" dt="2026-08-06T01:22:19.537" v="117" actId="26606"/>
          <ac:spMkLst>
            <pc:docMk/>
            <pc:sldMk cId="21810516" sldId="276"/>
            <ac:spMk id="37" creationId="{B35D540D-9486-4236-952A-F72DC52D79BF}"/>
          </ac:spMkLst>
        </pc:spChg>
        <pc:picChg chg="add mod">
          <ac:chgData name="Ghazi Alsagoff" userId="903250ee2ac25176" providerId="LiveId" clId="{2E88CD6D-FFA1-4883-81D5-D359BC4A1E2F}" dt="2026-08-06T01:21:13.196" v="115" actId="26606"/>
          <ac:picMkLst>
            <pc:docMk/>
            <pc:sldMk cId="21810516" sldId="276"/>
            <ac:picMk id="7" creationId="{110D2F2D-2D20-823A-44B7-EE7175699ADE}"/>
          </ac:picMkLst>
        </pc:picChg>
        <pc:picChg chg="add mod">
          <ac:chgData name="Ghazi Alsagoff" userId="903250ee2ac25176" providerId="LiveId" clId="{2E88CD6D-FFA1-4883-81D5-D359BC4A1E2F}" dt="2026-08-06T01:21:13.196" v="115" actId="26606"/>
          <ac:picMkLst>
            <pc:docMk/>
            <pc:sldMk cId="21810516" sldId="276"/>
            <ac:picMk id="11" creationId="{654EF815-0F16-DA3F-0AF5-48D6F73BA30F}"/>
          </ac:picMkLst>
        </pc:picChg>
        <pc:picChg chg="add">
          <ac:chgData name="Ghazi Alsagoff" userId="903250ee2ac25176" providerId="LiveId" clId="{2E88CD6D-FFA1-4883-81D5-D359BC4A1E2F}" dt="2026-08-06T01:22:17.084" v="116" actId="22"/>
          <ac:picMkLst>
            <pc:docMk/>
            <pc:sldMk cId="21810516" sldId="276"/>
            <ac:picMk id="13" creationId="{83878B27-FD79-FEDF-C715-99137C7C6066}"/>
          </ac:picMkLst>
        </pc:picChg>
      </pc:sldChg>
      <pc:sldChg chg="addSp delSp modSp mod setBg">
        <pc:chgData name="Ghazi Alsagoff" userId="903250ee2ac25176" providerId="LiveId" clId="{2E88CD6D-FFA1-4883-81D5-D359BC4A1E2F}" dt="2026-08-12T08:21:56.364" v="170" actId="27636"/>
        <pc:sldMkLst>
          <pc:docMk/>
          <pc:sldMk cId="21810516" sldId="277"/>
        </pc:sldMkLst>
        <pc:spChg chg="mod ord">
          <ac:chgData name="Ghazi Alsagoff" userId="903250ee2ac25176" providerId="LiveId" clId="{2E88CD6D-FFA1-4883-81D5-D359BC4A1E2F}" dt="2026-08-06T01:23:59.358" v="136" actId="26606"/>
          <ac:spMkLst>
            <pc:docMk/>
            <pc:sldMk cId="21810516" sldId="277"/>
            <ac:spMk id="2" creationId="{2A3B387C-33A5-2FAA-C6FB-335BF74F5C19}"/>
          </ac:spMkLst>
        </pc:spChg>
        <pc:spChg chg="mod ord">
          <ac:chgData name="Ghazi Alsagoff" userId="903250ee2ac25176" providerId="LiveId" clId="{2E88CD6D-FFA1-4883-81D5-D359BC4A1E2F}" dt="2026-08-12T08:21:56.364" v="170" actId="27636"/>
          <ac:spMkLst>
            <pc:docMk/>
            <pc:sldMk cId="21810516" sldId="277"/>
            <ac:spMk id="3" creationId="{90E90BAF-F558-4D03-CB1D-DA51EAD8A35B}"/>
          </ac:spMkLst>
        </pc:spChg>
        <pc:spChg chg="add">
          <ac:chgData name="Ghazi Alsagoff" userId="903250ee2ac25176" providerId="LiveId" clId="{2E88CD6D-FFA1-4883-81D5-D359BC4A1E2F}" dt="2026-08-06T01:23:59.358" v="136" actId="26606"/>
          <ac:spMkLst>
            <pc:docMk/>
            <pc:sldMk cId="21810516" sldId="277"/>
            <ac:spMk id="32" creationId="{87A87D8F-9102-4047-BDED-363F664AE5EB}"/>
          </ac:spMkLst>
        </pc:spChg>
        <pc:spChg chg="add">
          <ac:chgData name="Ghazi Alsagoff" userId="903250ee2ac25176" providerId="LiveId" clId="{2E88CD6D-FFA1-4883-81D5-D359BC4A1E2F}" dt="2026-08-06T01:23:59.358" v="136" actId="26606"/>
          <ac:spMkLst>
            <pc:docMk/>
            <pc:sldMk cId="21810516" sldId="277"/>
            <ac:spMk id="33" creationId="{9073D962-D3D2-4A72-8593-65C213CBFFC3}"/>
          </ac:spMkLst>
        </pc:spChg>
        <pc:spChg chg="add">
          <ac:chgData name="Ghazi Alsagoff" userId="903250ee2ac25176" providerId="LiveId" clId="{2E88CD6D-FFA1-4883-81D5-D359BC4A1E2F}" dt="2026-08-06T01:23:59.358" v="136" actId="26606"/>
          <ac:spMkLst>
            <pc:docMk/>
            <pc:sldMk cId="21810516" sldId="277"/>
            <ac:spMk id="34" creationId="{2387511B-F6E1-4929-AC90-94FB8B6B0F41}"/>
          </ac:spMkLst>
        </pc:spChg>
        <pc:spChg chg="add">
          <ac:chgData name="Ghazi Alsagoff" userId="903250ee2ac25176" providerId="LiveId" clId="{2E88CD6D-FFA1-4883-81D5-D359BC4A1E2F}" dt="2026-08-06T01:23:59.358" v="136" actId="26606"/>
          <ac:spMkLst>
            <pc:docMk/>
            <pc:sldMk cId="21810516" sldId="277"/>
            <ac:spMk id="35" creationId="{AA58F78C-27AB-465F-AA33-15E08AF267F9}"/>
          </ac:spMkLst>
        </pc:spChg>
        <pc:picChg chg="add mod ord">
          <ac:chgData name="Ghazi Alsagoff" userId="903250ee2ac25176" providerId="LiveId" clId="{2E88CD6D-FFA1-4883-81D5-D359BC4A1E2F}" dt="2026-08-06T01:23:59.358" v="136" actId="26606"/>
          <ac:picMkLst>
            <pc:docMk/>
            <pc:sldMk cId="21810516" sldId="277"/>
            <ac:picMk id="7" creationId="{FF0C6AE7-BDD3-4428-2533-142AE6AAE508}"/>
          </ac:picMkLst>
        </pc:picChg>
        <pc:picChg chg="add mod">
          <ac:chgData name="Ghazi Alsagoff" userId="903250ee2ac25176" providerId="LiveId" clId="{2E88CD6D-FFA1-4883-81D5-D359BC4A1E2F}" dt="2026-08-06T01:23:59.358" v="136" actId="26606"/>
          <ac:picMkLst>
            <pc:docMk/>
            <pc:sldMk cId="21810516" sldId="277"/>
            <ac:picMk id="9" creationId="{A139A727-6B2A-34E8-A407-3F25CD257B68}"/>
          </ac:picMkLst>
        </pc:picChg>
        <pc:picChg chg="add mod ord">
          <ac:chgData name="Ghazi Alsagoff" userId="903250ee2ac25176" providerId="LiveId" clId="{2E88CD6D-FFA1-4883-81D5-D359BC4A1E2F}" dt="2026-08-06T01:23:59.358" v="136" actId="26606"/>
          <ac:picMkLst>
            <pc:docMk/>
            <pc:sldMk cId="21810516" sldId="277"/>
            <ac:picMk id="11" creationId="{75D16462-2E66-93FB-89CB-9C2883308982}"/>
          </ac:picMkLst>
        </pc:picChg>
        <pc:picChg chg="add mod ord">
          <ac:chgData name="Ghazi Alsagoff" userId="903250ee2ac25176" providerId="LiveId" clId="{2E88CD6D-FFA1-4883-81D5-D359BC4A1E2F}" dt="2026-08-06T01:23:59.358" v="136" actId="26606"/>
          <ac:picMkLst>
            <pc:docMk/>
            <pc:sldMk cId="21810516" sldId="277"/>
            <ac:picMk id="13" creationId="{AC6D45C0-0748-F036-0CDB-5D4146E3F23F}"/>
          </ac:picMkLst>
        </pc:picChg>
      </pc:sldChg>
      <pc:sldChg chg="addSp delSp modSp mod setBg">
        <pc:chgData name="Ghazi Alsagoff" userId="903250ee2ac25176" providerId="LiveId" clId="{2E88CD6D-FFA1-4883-81D5-D359BC4A1E2F}" dt="2026-08-06T01:25:45.468" v="161" actId="26606"/>
        <pc:sldMkLst>
          <pc:docMk/>
          <pc:sldMk cId="21810516" sldId="278"/>
        </pc:sldMkLst>
        <pc:spChg chg="mod">
          <ac:chgData name="Ghazi Alsagoff" userId="903250ee2ac25176" providerId="LiveId" clId="{2E88CD6D-FFA1-4883-81D5-D359BC4A1E2F}" dt="2026-08-06T01:25:45.468" v="161" actId="26606"/>
          <ac:spMkLst>
            <pc:docMk/>
            <pc:sldMk cId="21810516" sldId="278"/>
            <ac:spMk id="2" creationId="{2A3B387C-33A5-2FAA-C6FB-335BF74F5C19}"/>
          </ac:spMkLst>
        </pc:spChg>
        <pc:spChg chg="mod">
          <ac:chgData name="Ghazi Alsagoff" userId="903250ee2ac25176" providerId="LiveId" clId="{2E88CD6D-FFA1-4883-81D5-D359BC4A1E2F}" dt="2026-08-06T01:25:45.468" v="161" actId="26606"/>
          <ac:spMkLst>
            <pc:docMk/>
            <pc:sldMk cId="21810516" sldId="278"/>
            <ac:spMk id="3" creationId="{90E90BAF-F558-4D03-CB1D-DA51EAD8A35B}"/>
          </ac:spMkLst>
        </pc:spChg>
        <pc:spChg chg="add">
          <ac:chgData name="Ghazi Alsagoff" userId="903250ee2ac25176" providerId="LiveId" clId="{2E88CD6D-FFA1-4883-81D5-D359BC4A1E2F}" dt="2026-08-06T01:25:45.468" v="161" actId="26606"/>
          <ac:spMkLst>
            <pc:docMk/>
            <pc:sldMk cId="21810516" sldId="278"/>
            <ac:spMk id="33" creationId="{4C2AC11E-3162-4990-A36E-92B07ECF16C2}"/>
          </ac:spMkLst>
        </pc:spChg>
        <pc:spChg chg="add">
          <ac:chgData name="Ghazi Alsagoff" userId="903250ee2ac25176" providerId="LiveId" clId="{2E88CD6D-FFA1-4883-81D5-D359BC4A1E2F}" dt="2026-08-06T01:25:45.468" v="161" actId="26606"/>
          <ac:spMkLst>
            <pc:docMk/>
            <pc:sldMk cId="21810516" sldId="278"/>
            <ac:spMk id="34" creationId="{9073D962-D3D2-4A72-8593-65C213CBFFC3}"/>
          </ac:spMkLst>
        </pc:spChg>
        <pc:spChg chg="add">
          <ac:chgData name="Ghazi Alsagoff" userId="903250ee2ac25176" providerId="LiveId" clId="{2E88CD6D-FFA1-4883-81D5-D359BC4A1E2F}" dt="2026-08-06T01:25:45.468" v="161" actId="26606"/>
          <ac:spMkLst>
            <pc:docMk/>
            <pc:sldMk cId="21810516" sldId="278"/>
            <ac:spMk id="35" creationId="{2387511B-F6E1-4929-AC90-94FB8B6B0F41}"/>
          </ac:spMkLst>
        </pc:spChg>
        <pc:spChg chg="add">
          <ac:chgData name="Ghazi Alsagoff" userId="903250ee2ac25176" providerId="LiveId" clId="{2E88CD6D-FFA1-4883-81D5-D359BC4A1E2F}" dt="2026-08-06T01:25:45.468" v="161" actId="26606"/>
          <ac:spMkLst>
            <pc:docMk/>
            <pc:sldMk cId="21810516" sldId="278"/>
            <ac:spMk id="36" creationId="{AA58F78C-27AB-465F-AA33-15E08AF267F9}"/>
          </ac:spMkLst>
        </pc:spChg>
        <pc:picChg chg="add mod ord">
          <ac:chgData name="Ghazi Alsagoff" userId="903250ee2ac25176" providerId="LiveId" clId="{2E88CD6D-FFA1-4883-81D5-D359BC4A1E2F}" dt="2026-08-06T01:25:45.468" v="161" actId="26606"/>
          <ac:picMkLst>
            <pc:docMk/>
            <pc:sldMk cId="21810516" sldId="278"/>
            <ac:picMk id="8" creationId="{A68DE3D1-E70E-3BEF-9D20-64ABEB50AAA9}"/>
          </ac:picMkLst>
        </pc:picChg>
        <pc:picChg chg="add mod">
          <ac:chgData name="Ghazi Alsagoff" userId="903250ee2ac25176" providerId="LiveId" clId="{2E88CD6D-FFA1-4883-81D5-D359BC4A1E2F}" dt="2026-08-06T01:25:45.468" v="161" actId="26606"/>
          <ac:picMkLst>
            <pc:docMk/>
            <pc:sldMk cId="21810516" sldId="278"/>
            <ac:picMk id="10" creationId="{95AADF5B-B359-BCC0-A632-1638DD15D909}"/>
          </ac:picMkLst>
        </pc:picChg>
        <pc:picChg chg="add mod ord">
          <ac:chgData name="Ghazi Alsagoff" userId="903250ee2ac25176" providerId="LiveId" clId="{2E88CD6D-FFA1-4883-81D5-D359BC4A1E2F}" dt="2026-08-06T01:25:45.468" v="161" actId="26606"/>
          <ac:picMkLst>
            <pc:docMk/>
            <pc:sldMk cId="21810516" sldId="278"/>
            <ac:picMk id="12" creationId="{3A3F1FD5-4483-D9C6-51AB-A7B9E81AE952}"/>
          </ac:picMkLst>
        </pc:picChg>
        <pc:picChg chg="add mod ord">
          <ac:chgData name="Ghazi Alsagoff" userId="903250ee2ac25176" providerId="LiveId" clId="{2E88CD6D-FFA1-4883-81D5-D359BC4A1E2F}" dt="2026-08-06T01:25:45.468" v="161" actId="26606"/>
          <ac:picMkLst>
            <pc:docMk/>
            <pc:sldMk cId="21810516" sldId="278"/>
            <ac:picMk id="14" creationId="{A427633A-0CDC-F98A-7BBE-2BF370644AE2}"/>
          </ac:picMkLst>
        </pc:picChg>
      </pc:sldChg>
      <pc:sldChg chg="addSp delSp modSp mod setBg">
        <pc:chgData name="Ghazi Alsagoff" userId="903250ee2ac25176" providerId="LiveId" clId="{2E88CD6D-FFA1-4883-81D5-D359BC4A1E2F}" dt="2026-08-06T01:14:18.451" v="74" actId="14100"/>
        <pc:sldMkLst>
          <pc:docMk/>
          <pc:sldMk cId="21810516" sldId="279"/>
        </pc:sldMkLst>
        <pc:spChg chg="mod">
          <ac:chgData name="Ghazi Alsagoff" userId="903250ee2ac25176" providerId="LiveId" clId="{2E88CD6D-FFA1-4883-81D5-D359BC4A1E2F}" dt="2026-08-06T01:14:15.680" v="73" actId="27636"/>
          <ac:spMkLst>
            <pc:docMk/>
            <pc:sldMk cId="21810516" sldId="279"/>
            <ac:spMk id="2" creationId="{2A3B387C-33A5-2FAA-C6FB-335BF74F5C19}"/>
          </ac:spMkLst>
        </pc:spChg>
        <pc:spChg chg="mod ord">
          <ac:chgData name="Ghazi Alsagoff" userId="903250ee2ac25176" providerId="LiveId" clId="{2E88CD6D-FFA1-4883-81D5-D359BC4A1E2F}" dt="2026-08-06T01:13:50.797" v="62" actId="26606"/>
          <ac:spMkLst>
            <pc:docMk/>
            <pc:sldMk cId="21810516" sldId="279"/>
            <ac:spMk id="3" creationId="{90E90BAF-F558-4D03-CB1D-DA51EAD8A35B}"/>
          </ac:spMkLst>
        </pc:spChg>
        <pc:spChg chg="add">
          <ac:chgData name="Ghazi Alsagoff" userId="903250ee2ac25176" providerId="LiveId" clId="{2E88CD6D-FFA1-4883-81D5-D359BC4A1E2F}" dt="2026-08-06T01:13:50.797" v="62" actId="26606"/>
          <ac:spMkLst>
            <pc:docMk/>
            <pc:sldMk cId="21810516" sldId="279"/>
            <ac:spMk id="23" creationId="{AE6CA01B-0DEB-4E9A-9768-B728DA42C1D4}"/>
          </ac:spMkLst>
        </pc:spChg>
        <pc:grpChg chg="add">
          <ac:chgData name="Ghazi Alsagoff" userId="903250ee2ac25176" providerId="LiveId" clId="{2E88CD6D-FFA1-4883-81D5-D359BC4A1E2F}" dt="2026-08-06T01:13:50.797" v="62" actId="26606"/>
          <ac:grpSpMkLst>
            <pc:docMk/>
            <pc:sldMk cId="21810516" sldId="279"/>
            <ac:grpSpMk id="24" creationId="{A57D8C8E-634E-4E83-9657-225A4DFE47ED}"/>
          </ac:grpSpMkLst>
        </pc:grpChg>
        <pc:picChg chg="add mod modCrop">
          <ac:chgData name="Ghazi Alsagoff" userId="903250ee2ac25176" providerId="LiveId" clId="{2E88CD6D-FFA1-4883-81D5-D359BC4A1E2F}" dt="2026-08-06T01:14:18.451" v="74" actId="14100"/>
          <ac:picMkLst>
            <pc:docMk/>
            <pc:sldMk cId="21810516" sldId="279"/>
            <ac:picMk id="7" creationId="{E0C09B5E-D329-8384-A188-5139804E7423}"/>
          </ac:picMkLst>
        </pc:picChg>
        <pc:picChg chg="add mod modCrop">
          <ac:chgData name="Ghazi Alsagoff" userId="903250ee2ac25176" providerId="LiveId" clId="{2E88CD6D-FFA1-4883-81D5-D359BC4A1E2F}" dt="2026-08-06T01:14:07.955" v="69" actId="14100"/>
          <ac:picMkLst>
            <pc:docMk/>
            <pc:sldMk cId="21810516" sldId="279"/>
            <ac:picMk id="9" creationId="{FE2102A6-B4E6-438C-A0E4-2C0B1A68D86F}"/>
          </ac:picMkLst>
        </pc:picChg>
        <pc:picChg chg="add mod ord">
          <ac:chgData name="Ghazi Alsagoff" userId="903250ee2ac25176" providerId="LiveId" clId="{2E88CD6D-FFA1-4883-81D5-D359BC4A1E2F}" dt="2026-08-06T01:13:59.677" v="65" actId="1076"/>
          <ac:picMkLst>
            <pc:docMk/>
            <pc:sldMk cId="21810516" sldId="279"/>
            <ac:picMk id="11" creationId="{490BB958-BA34-F208-FFDB-A6523A6286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5199-66E4-F4CD-1D0C-B8684D33A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A1F5E-7EE8-3CF1-4ACA-39B4CA54E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C7AB8-37F4-38A8-376E-EA5669A4B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AF579-812A-A8C3-0A82-C4B1735F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0E7DC-909B-A4C8-B9C0-4F24692D5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946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95537-2AD5-C04A-CD81-C09DBB51E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0A611-B6A8-606A-3040-E94D416EE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6C444-FAC4-9CD3-5B9D-5084BCEAB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A8A33-8592-A765-7007-DC787E3E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AB489-E9FF-37F4-86F1-C7C0A3BA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541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5784-F47B-7FBB-926C-74B935939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65CB5-2A8E-81CA-428E-EFDC5532E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1375E-8ACF-E7AC-E133-919BC373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C4AD8-1F05-3606-BC63-165162D2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E9611-CBCE-FC2C-A124-45F52BAD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016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8179-011A-2A1C-C76E-3F990355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ABFDF-1F2E-BD30-3F62-CF8015C73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978ED-9CEF-468C-2012-B0F57416F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0E808-49C7-7F63-0AD0-18CC3533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05EA2-38F7-A4D5-4D4E-C2A333D4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EC61A-3058-568E-45DB-A0E2587B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8115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5F2E-DA0C-4B1B-55CF-CA7CB427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29F4-E3DB-8685-6780-84A180900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A9F53-FB51-259E-C1DD-2B9CE050D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45780-1EF8-C438-6F9D-E853596C5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28306-E8CE-4F5D-13D4-FDF6EE3374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D22BAD-0882-1F96-CFF9-B62DF360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613AB5-6DEF-EE82-3CDD-A64EAB8FA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D5D88-D341-BF73-3F9E-CA0948D1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926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A2A3C-B505-0553-C7A9-E0A8BAF33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170DA-D48B-A8F8-7626-CE6D7B1F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48255-5F48-03A6-4B17-8B603BA9D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7C333-4AB1-1F1B-87B9-E1E16610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483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4C886-55D3-62F3-0306-3C790545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73BD9E-7951-6074-95D5-846920952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A7697-ECD6-DD66-AC0F-12BF8DAB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176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842D-2FE1-066D-DD49-1A8201455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00746-AB57-1865-9B1A-9EA38F6BB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FC3C6-6F3B-6DA0-E4A2-88C85EDD5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9E1DA-998F-7DB9-3351-AAE6831F6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000B8-93B0-08E4-9534-C48542EA4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9DA2B-A8FE-3C4F-36DE-F9A93BAB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283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EE84-C461-DD15-3ABD-BD98A564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99C3E-8C84-EEF9-1589-47700D2BE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E8BBA-54C8-565D-A268-1D5A2A96B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5095E-8F07-C021-DEAE-F3BA6D14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600F8-196C-2E40-EC08-60CD26DB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1B620-20EE-E754-2D55-0DF1754F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5129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1AC7-0C75-D679-369D-7D0F462B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9083C-F582-ADE6-1539-D696C8DD6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E505F-3DEB-E3A3-0241-10B2F1D3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2DF05-AA28-68A3-680B-FB3C2172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B6F36-B257-E890-9835-01C073ACF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647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27E15-8FF2-CB04-6DD8-440BC3F4A5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6C347-56B8-5CEE-5278-A0223AF4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7A087-30DB-CBE9-E452-D456BACF6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24974-0EB1-57E5-D578-D49F7F9A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D1FA9-7335-B14E-ACA2-D73714C9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8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C08D6-B44B-5607-1275-1B8286F8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89858-9D9F-CECC-F81D-119438C02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287C9-4B0F-E0F3-AD8C-5375D3513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B5284-BCBC-40F2-BE1E-6CFB3D2BA82E}" type="datetimeFigureOut">
              <a:rPr lang="en-SG" smtClean="0"/>
              <a:t>12/8/2026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3ED5C-625F-2603-E61D-73A5092BA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D71C-3142-7BDC-54F9-E185B9CA2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882FF-E628-4E7D-976A-7AC6BB25A56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873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1CA4-5920-8890-1254-859009F61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651" y="1122363"/>
            <a:ext cx="9144000" cy="2387600"/>
          </a:xfrm>
        </p:spPr>
        <p:txBody>
          <a:bodyPr/>
          <a:lstStyle/>
          <a:p>
            <a:pPr algn="ctr"/>
            <a:r>
              <a:rPr sz="5400" b="1">
                <a:solidFill>
                  <a:srgbClr val="5B2C8D"/>
                </a:solidFill>
              </a:rPr>
              <a:t>H.O.P.E</a:t>
            </a:r>
            <a:endParaRPr lang="en-SG" dirty="0"/>
          </a:p>
          <a:p>
            <a:pPr algn="ctr"/>
            <a:r>
              <a:rPr sz="2600" b="1">
                <a:solidFill>
                  <a:srgbClr val="252525"/>
                </a:solidFill>
              </a:rPr>
              <a:t>Home Of Primary Envisage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95E70-DCAA-D51F-6996-C32E6F674C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52525"/>
                </a:solidFill>
              </a:rPr>
              <a:t>Healthcare Administration RPA Robot</a:t>
            </a:r>
            <a:endParaRPr lang="en-SG" dirty="0"/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</a:rPr>
              <a:t>Robotic Process Automation (CAI2C01)   |   AY2026/2027 April Semester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</a:rPr>
              <a:t>Syed Ghazi Bin Syed Muhammad Shafeeq Alsagoff   |   2504242E   |   Group P02</a:t>
            </a:r>
          </a:p>
        </p:txBody>
      </p:sp>
    </p:spTree>
    <p:extLst>
      <p:ext uri="{BB962C8B-B14F-4D97-AF65-F5344CB8AC3E}">
        <p14:creationId xmlns:p14="http://schemas.microsoft.com/office/powerpoint/2010/main" val="491984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F0F1-15DC-E463-D00F-018E8460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252525"/>
                </a:solidFill>
              </a:rPr>
              <a:t>Problem statement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2097F-0ED1-C88A-15A0-FAD3C7160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400" b="1" dirty="0">
                <a:solidFill>
                  <a:srgbClr val="5B2C8D"/>
                </a:solidFill>
              </a:rPr>
              <a:t>The problem</a:t>
            </a:r>
            <a:endParaRPr lang="en-SG" dirty="0"/>
          </a:p>
          <a:p>
            <a:pPr lvl="1">
              <a:spcAft>
                <a:spcPts val="500"/>
              </a:spcAft>
            </a:pPr>
            <a:r>
              <a:rPr sz="1600" b="0" dirty="0">
                <a:solidFill>
                  <a:srgbClr val="5A5A5A"/>
                </a:solidFill>
              </a:rPr>
              <a:t>Clinic staff manually re-type the same patient details across PDF registration forms, Excel records, appointment schedules, Word reports and emails — for every patient. This causes typing errors, duplicate records, missed appointments and slow confirmations, and it does not scale at peak periods.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5B2C8D"/>
                </a:solidFill>
              </a:rPr>
              <a:t>Why it matters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solidFill>
                  <a:srgbClr val="5A5A5A"/>
                </a:solidFill>
              </a:rPr>
              <a:t>The WHO projects a global shortfall of over 11 million health workers; Singapore’s MOH needs about 15,000 more healthcare professionals by 2030. Understaffed teams make more errors, so time lost to paperwork carries a direct patient-safety cost.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5B2C8D"/>
                </a:solidFill>
              </a:rPr>
              <a:t>The solution — H.O.P.E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solidFill>
                  <a:srgbClr val="5A5A5A"/>
                </a:solidFill>
              </a:rPr>
              <a:t>An unattended robot that automates the full patient administration pipeline: registration, appointment scheduling, record maintenance, medical report generation, email confirmation and daily management reporting.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solidFill>
                  <a:srgbClr val="5A5A5A"/>
                </a:solidFill>
              </a:rPr>
              <a:t>Target users: clinic receptionists, healthcare administrative staff, the Medical Records department, appointment-scheduling teams and clinic managers.</a:t>
            </a:r>
          </a:p>
          <a:p>
            <a:pPr lvl="1">
              <a:spcAft>
                <a:spcPts val="500"/>
              </a:spcAft>
            </a:pPr>
            <a:r>
              <a:rPr sz="1600" b="0" dirty="0">
                <a:solidFill>
                  <a:srgbClr val="5A5A5A"/>
                </a:solidFill>
              </a:rPr>
              <a:t>Value: staff redirect time from re-typing data to patient care, while records stay accurate, de-duplicated and fully audit-logged.</a:t>
            </a:r>
          </a:p>
        </p:txBody>
      </p:sp>
    </p:spTree>
    <p:extLst>
      <p:ext uri="{BB962C8B-B14F-4D97-AF65-F5344CB8AC3E}">
        <p14:creationId xmlns:p14="http://schemas.microsoft.com/office/powerpoint/2010/main" val="423520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B655-6EC2-A0B5-88D8-4191604A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252525"/>
                </a:solidFill>
              </a:rPr>
              <a:t>Process</a:t>
            </a: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5AEE3098-605D-6441-A862-30A29D5B9953}"/>
              </a:ext>
            </a:extLst>
          </p:cNvPr>
          <p:cNvSpPr/>
          <p:nvPr/>
        </p:nvSpPr>
        <p:spPr>
          <a:xfrm rot="5400000">
            <a:off x="2709425" y="4227077"/>
            <a:ext cx="361681" cy="0"/>
          </a:xfrm>
          <a:prstGeom prst="line">
            <a:avLst/>
          </a:prstGeom>
          <a:ln w="19050" cap="rnd">
            <a:solidFill>
              <a:srgbClr val="301906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E41B5755-D3D6-7709-0363-54D44E57753A}"/>
              </a:ext>
            </a:extLst>
          </p:cNvPr>
          <p:cNvSpPr/>
          <p:nvPr/>
        </p:nvSpPr>
        <p:spPr>
          <a:xfrm rot="5400000">
            <a:off x="6005234" y="4227077"/>
            <a:ext cx="361681" cy="0"/>
          </a:xfrm>
          <a:prstGeom prst="line">
            <a:avLst/>
          </a:prstGeom>
          <a:ln w="19050" cap="rnd">
            <a:solidFill>
              <a:srgbClr val="5E17EB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B978323B-A1A7-E467-B9FB-AF3B6390562B}"/>
              </a:ext>
            </a:extLst>
          </p:cNvPr>
          <p:cNvSpPr/>
          <p:nvPr/>
        </p:nvSpPr>
        <p:spPr>
          <a:xfrm rot="5400000">
            <a:off x="9250392" y="4227077"/>
            <a:ext cx="361681" cy="0"/>
          </a:xfrm>
          <a:prstGeom prst="line">
            <a:avLst/>
          </a:prstGeom>
          <a:ln w="19050" cap="rnd">
            <a:solidFill>
              <a:srgbClr val="5E17EB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2CD08C79-2385-F101-E6F7-4300A088ABEF}"/>
              </a:ext>
            </a:extLst>
          </p:cNvPr>
          <p:cNvSpPr/>
          <p:nvPr/>
        </p:nvSpPr>
        <p:spPr>
          <a:xfrm rot="5400000">
            <a:off x="4321850" y="2843103"/>
            <a:ext cx="361681" cy="0"/>
          </a:xfrm>
          <a:prstGeom prst="line">
            <a:avLst/>
          </a:prstGeom>
          <a:ln w="19050" cap="rnd">
            <a:solidFill>
              <a:srgbClr val="5E17EB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5BC007E3-8A14-8136-34F9-38221F530116}"/>
              </a:ext>
            </a:extLst>
          </p:cNvPr>
          <p:cNvSpPr/>
          <p:nvPr/>
        </p:nvSpPr>
        <p:spPr>
          <a:xfrm rot="5400000">
            <a:off x="7617659" y="2843103"/>
            <a:ext cx="361681" cy="0"/>
          </a:xfrm>
          <a:prstGeom prst="line">
            <a:avLst/>
          </a:prstGeom>
          <a:ln w="19050" cap="rnd">
            <a:solidFill>
              <a:srgbClr val="5E17EB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5D2D7AAE-26E9-72E8-619E-3347F07D00E7}"/>
              </a:ext>
            </a:extLst>
          </p:cNvPr>
          <p:cNvSpPr/>
          <p:nvPr/>
        </p:nvSpPr>
        <p:spPr>
          <a:xfrm>
            <a:off x="3290872" y="3561589"/>
            <a:ext cx="5619276" cy="0"/>
          </a:xfrm>
          <a:prstGeom prst="line">
            <a:avLst/>
          </a:prstGeom>
          <a:ln w="19050" cap="rnd">
            <a:solidFill>
              <a:srgbClr val="5E17E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592DB7-DB9B-7321-A369-B2F50820E706}"/>
              </a:ext>
            </a:extLst>
          </p:cNvPr>
          <p:cNvGrpSpPr>
            <a:grpSpLocks noChangeAspect="1"/>
          </p:cNvGrpSpPr>
          <p:nvPr/>
        </p:nvGrpSpPr>
        <p:grpSpPr>
          <a:xfrm>
            <a:off x="2304488" y="2942473"/>
            <a:ext cx="1209656" cy="1209656"/>
            <a:chOff x="0" y="0"/>
            <a:chExt cx="495300" cy="495300"/>
          </a:xfrm>
        </p:grpSpPr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32B4C226-5116-F64E-22D1-1C0FDBD3BF9F}"/>
                </a:ext>
              </a:extLst>
            </p:cNvPr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268F8980-B7F2-5DF7-BFD4-8B6C14ED58A9}"/>
                </a:ext>
              </a:extLst>
            </p:cNvPr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434E562-A210-D9AF-3B9A-18D859B37898}"/>
              </a:ext>
            </a:extLst>
          </p:cNvPr>
          <p:cNvGrpSpPr>
            <a:grpSpLocks noChangeAspect="1"/>
          </p:cNvGrpSpPr>
          <p:nvPr/>
        </p:nvGrpSpPr>
        <p:grpSpPr>
          <a:xfrm>
            <a:off x="5566959" y="2951998"/>
            <a:ext cx="1209656" cy="1209656"/>
            <a:chOff x="0" y="0"/>
            <a:chExt cx="495300" cy="495300"/>
          </a:xfrm>
        </p:grpSpPr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D09196FA-481C-B481-E597-6E56E74D45DA}"/>
                </a:ext>
              </a:extLst>
            </p:cNvPr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4BEAC01E-277D-FEA9-8453-9C7515A9BEFB}"/>
                </a:ext>
              </a:extLst>
            </p:cNvPr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5ACF39-CCB1-1AF0-71B3-BE7EC0772199}"/>
              </a:ext>
            </a:extLst>
          </p:cNvPr>
          <p:cNvGrpSpPr>
            <a:grpSpLocks noChangeAspect="1"/>
          </p:cNvGrpSpPr>
          <p:nvPr/>
        </p:nvGrpSpPr>
        <p:grpSpPr>
          <a:xfrm>
            <a:off x="3931198" y="2942473"/>
            <a:ext cx="1209656" cy="1209656"/>
            <a:chOff x="0" y="0"/>
            <a:chExt cx="495300" cy="495300"/>
          </a:xfrm>
        </p:grpSpPr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8120AD8D-1D73-1E44-639D-3440E088BA69}"/>
                </a:ext>
              </a:extLst>
            </p:cNvPr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4FBF71C0-DCE8-3446-95A2-F8CF770B996B}"/>
                </a:ext>
              </a:extLst>
            </p:cNvPr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C620574-AB20-D9E3-7404-EB0249C6645C}"/>
              </a:ext>
            </a:extLst>
          </p:cNvPr>
          <p:cNvGrpSpPr>
            <a:grpSpLocks noChangeAspect="1"/>
          </p:cNvGrpSpPr>
          <p:nvPr/>
        </p:nvGrpSpPr>
        <p:grpSpPr>
          <a:xfrm>
            <a:off x="7185406" y="2951998"/>
            <a:ext cx="1209656" cy="1209656"/>
            <a:chOff x="0" y="0"/>
            <a:chExt cx="495300" cy="495300"/>
          </a:xfrm>
        </p:grpSpPr>
        <p:sp>
          <p:nvSpPr>
            <p:cNvPr id="38" name="Freeform 18">
              <a:extLst>
                <a:ext uri="{FF2B5EF4-FFF2-40B4-BE49-F238E27FC236}">
                  <a16:creationId xmlns:a16="http://schemas.microsoft.com/office/drawing/2014/main" id="{CA2D599E-E6F5-52CB-4008-30E5986DD894}"/>
                </a:ext>
              </a:extLst>
            </p:cNvPr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9">
              <a:extLst>
                <a:ext uri="{FF2B5EF4-FFF2-40B4-BE49-F238E27FC236}">
                  <a16:creationId xmlns:a16="http://schemas.microsoft.com/office/drawing/2014/main" id="{75FC92B4-A5C0-A0A5-95F3-64BE04CCD80D}"/>
                </a:ext>
              </a:extLst>
            </p:cNvPr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D266A1-EFAD-0510-41C4-088F67D6F21D}"/>
              </a:ext>
            </a:extLst>
          </p:cNvPr>
          <p:cNvGrpSpPr>
            <a:grpSpLocks noChangeAspect="1"/>
          </p:cNvGrpSpPr>
          <p:nvPr/>
        </p:nvGrpSpPr>
        <p:grpSpPr>
          <a:xfrm>
            <a:off x="8812117" y="2951998"/>
            <a:ext cx="1209656" cy="1209656"/>
            <a:chOff x="0" y="0"/>
            <a:chExt cx="495300" cy="495300"/>
          </a:xfrm>
        </p:grpSpPr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4E86D87F-CE69-9BEC-375B-3395CA0BE035}"/>
                </a:ext>
              </a:extLst>
            </p:cNvPr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2D9902EA-630B-3E99-60E9-352A450A601B}"/>
                </a:ext>
              </a:extLst>
            </p:cNvPr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7">
            <a:extLst>
              <a:ext uri="{FF2B5EF4-FFF2-40B4-BE49-F238E27FC236}">
                <a16:creationId xmlns:a16="http://schemas.microsoft.com/office/drawing/2014/main" id="{7AB27828-44C8-7CB8-86DB-0297D774C5BB}"/>
              </a:ext>
            </a:extLst>
          </p:cNvPr>
          <p:cNvSpPr txBox="1"/>
          <p:nvPr/>
        </p:nvSpPr>
        <p:spPr>
          <a:xfrm>
            <a:off x="2547206" y="3338404"/>
            <a:ext cx="724219" cy="417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13"/>
              </a:lnSpc>
              <a:spcBef>
                <a:spcPct val="0"/>
              </a:spcBef>
            </a:pPr>
            <a:r>
              <a:rPr lang="en-US" sz="2794" u="none">
                <a:solidFill>
                  <a:srgbClr val="301906"/>
                </a:solidFill>
                <a:latin typeface="Kollektif Bold"/>
              </a:rPr>
              <a:t>01.</a:t>
            </a:r>
          </a:p>
        </p:txBody>
      </p:sp>
      <p:sp>
        <p:nvSpPr>
          <p:cNvPr id="24" name="TextBox 28">
            <a:extLst>
              <a:ext uri="{FF2B5EF4-FFF2-40B4-BE49-F238E27FC236}">
                <a16:creationId xmlns:a16="http://schemas.microsoft.com/office/drawing/2014/main" id="{2966F416-53E8-A086-FE3F-F1B85C02FA26}"/>
              </a:ext>
            </a:extLst>
          </p:cNvPr>
          <p:cNvSpPr txBox="1"/>
          <p:nvPr/>
        </p:nvSpPr>
        <p:spPr>
          <a:xfrm>
            <a:off x="5809678" y="3347929"/>
            <a:ext cx="724219" cy="417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13"/>
              </a:lnSpc>
              <a:spcBef>
                <a:spcPct val="0"/>
              </a:spcBef>
            </a:pPr>
            <a:r>
              <a:rPr lang="en-US" sz="2794" u="none">
                <a:solidFill>
                  <a:srgbClr val="301906"/>
                </a:solidFill>
                <a:latin typeface="Kollektif Bold"/>
              </a:rPr>
              <a:t>03.</a:t>
            </a:r>
          </a:p>
        </p:txBody>
      </p:sp>
      <p:sp>
        <p:nvSpPr>
          <p:cNvPr id="25" name="TextBox 29">
            <a:extLst>
              <a:ext uri="{FF2B5EF4-FFF2-40B4-BE49-F238E27FC236}">
                <a16:creationId xmlns:a16="http://schemas.microsoft.com/office/drawing/2014/main" id="{244C1C80-2FBA-C1A7-FF20-65911B6DB630}"/>
              </a:ext>
            </a:extLst>
          </p:cNvPr>
          <p:cNvSpPr txBox="1"/>
          <p:nvPr/>
        </p:nvSpPr>
        <p:spPr>
          <a:xfrm>
            <a:off x="4173916" y="3338404"/>
            <a:ext cx="724219" cy="417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13"/>
              </a:lnSpc>
              <a:spcBef>
                <a:spcPct val="0"/>
              </a:spcBef>
            </a:pPr>
            <a:r>
              <a:rPr lang="en-US" sz="2794" u="none">
                <a:solidFill>
                  <a:srgbClr val="301906"/>
                </a:solidFill>
                <a:latin typeface="Kollektif Bold"/>
              </a:rPr>
              <a:t>02.</a:t>
            </a:r>
          </a:p>
        </p:txBody>
      </p:sp>
      <p:sp>
        <p:nvSpPr>
          <p:cNvPr id="26" name="TextBox 30">
            <a:extLst>
              <a:ext uri="{FF2B5EF4-FFF2-40B4-BE49-F238E27FC236}">
                <a16:creationId xmlns:a16="http://schemas.microsoft.com/office/drawing/2014/main" id="{586CF815-BDF4-0255-5ED9-3F899293EECF}"/>
              </a:ext>
            </a:extLst>
          </p:cNvPr>
          <p:cNvSpPr txBox="1"/>
          <p:nvPr/>
        </p:nvSpPr>
        <p:spPr>
          <a:xfrm>
            <a:off x="7428125" y="3347929"/>
            <a:ext cx="724219" cy="417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13"/>
              </a:lnSpc>
              <a:spcBef>
                <a:spcPct val="0"/>
              </a:spcBef>
            </a:pPr>
            <a:r>
              <a:rPr lang="en-US" sz="2794" u="none">
                <a:solidFill>
                  <a:srgbClr val="301906"/>
                </a:solidFill>
                <a:latin typeface="Kollektif Bold"/>
              </a:rPr>
              <a:t>04.</a:t>
            </a:r>
          </a:p>
        </p:txBody>
      </p:sp>
      <p:sp>
        <p:nvSpPr>
          <p:cNvPr id="27" name="TextBox 31">
            <a:extLst>
              <a:ext uri="{FF2B5EF4-FFF2-40B4-BE49-F238E27FC236}">
                <a16:creationId xmlns:a16="http://schemas.microsoft.com/office/drawing/2014/main" id="{D66BB2F5-6B04-47E4-08ED-395AAA51DB20}"/>
              </a:ext>
            </a:extLst>
          </p:cNvPr>
          <p:cNvSpPr txBox="1"/>
          <p:nvPr/>
        </p:nvSpPr>
        <p:spPr>
          <a:xfrm>
            <a:off x="9054835" y="3347929"/>
            <a:ext cx="724219" cy="417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3213"/>
              </a:lnSpc>
              <a:spcBef>
                <a:spcPct val="0"/>
              </a:spcBef>
            </a:pPr>
            <a:r>
              <a:rPr lang="en-US" sz="2794" u="none">
                <a:solidFill>
                  <a:srgbClr val="301906"/>
                </a:solidFill>
                <a:latin typeface="Kollektif Bold"/>
              </a:rPr>
              <a:t>05.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77AF2-27A7-0C00-7C4B-ABA5666E9CB2}"/>
              </a:ext>
            </a:extLst>
          </p:cNvPr>
          <p:cNvSpPr txBox="1"/>
          <p:nvPr/>
        </p:nvSpPr>
        <p:spPr>
          <a:xfrm>
            <a:off x="841248" y="1280160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i="1">
                <a:solidFill>
                  <a:srgbClr val="5A5A5A"/>
                </a:solidFill>
              </a:rPr>
              <a:t>End-to-end automated flow—application shown per step</a:t>
            </a:r>
            <a:endParaRPr lang="en-SG" dirty="0"/>
          </a:p>
        </p:txBody>
      </p:sp>
      <p:sp>
        <p:nvSpPr>
          <p:cNvPr id="46" name="TextBox 45"/>
          <p:cNvSpPr txBox="1"/>
          <p:nvPr/>
        </p:nvSpPr>
        <p:spPr>
          <a:xfrm>
            <a:off x="1828800" y="45537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5B2C8D"/>
                </a:solidFill>
              </a:rPr>
              <a:t>Patient Registration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4828032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</a:rPr>
              <a:t>Extract fields with regex,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validate, de-duplicate, write</a:t>
            </a:r>
          </a:p>
          <a:p>
            <a:pPr algn="ctr"/>
            <a:r>
              <a:rPr sz="1000" b="1">
                <a:solidFill>
                  <a:srgbClr val="5B2C8D"/>
                </a:solidFill>
              </a:rPr>
              <a:t>[PDF + Excel + Python]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8144" y="175564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5B2C8D"/>
                </a:solidFill>
              </a:rPr>
              <a:t>Appointment Scheduling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8144" y="2029967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</a:rPr>
              <a:t>Find and book the earliest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free slot on/after the date</a:t>
            </a:r>
          </a:p>
          <a:p>
            <a:pPr algn="ctr"/>
            <a:r>
              <a:rPr sz="1000" b="1">
                <a:solidFill>
                  <a:srgbClr val="5B2C8D"/>
                </a:solidFill>
              </a:rPr>
              <a:t>[Excel]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45537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5B2C8D"/>
                </a:solidFill>
              </a:rPr>
              <a:t>Patient Data Entry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4828032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</a:rPr>
              <a:t>Update doctor, time, report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status and follow-up by NRIC</a:t>
            </a:r>
          </a:p>
          <a:p>
            <a:pPr algn="ctr"/>
            <a:r>
              <a:rPr sz="1000" b="1">
                <a:solidFill>
                  <a:srgbClr val="5B2C8D"/>
                </a:solidFill>
              </a:rPr>
              <a:t>[Excel]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175564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5B2C8D"/>
                </a:solidFill>
              </a:rPr>
              <a:t>Report + Email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93408" y="2029967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</a:rPr>
              <a:t>Merge Word template to PDF,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email it to the patient</a:t>
            </a:r>
          </a:p>
          <a:p>
            <a:pPr algn="ctr"/>
            <a:r>
              <a:rPr sz="1000" b="1">
                <a:solidFill>
                  <a:srgbClr val="5B2C8D"/>
                </a:solidFill>
              </a:rPr>
              <a:t>[Word + PDF + Outlook]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553712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5B2C8D"/>
                </a:solidFill>
              </a:rPr>
              <a:t>Daily Summary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828032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</a:rPr>
              <a:t>Total the day and email the</a:t>
            </a:r>
          </a:p>
          <a:p>
            <a:pPr algn="ctr"/>
            <a:r>
              <a:rPr sz="1000">
                <a:solidFill>
                  <a:srgbClr val="5A5A5A"/>
                </a:solidFill>
              </a:rPr>
              <a:t>summary to the manager</a:t>
            </a:r>
          </a:p>
          <a:p>
            <a:pPr algn="ctr"/>
            <a:r>
              <a:rPr sz="1000" b="1">
                <a:solidFill>
                  <a:srgbClr val="5B2C8D"/>
                </a:solidFill>
              </a:rPr>
              <a:t>[Excel + Outlook]</a:t>
            </a:r>
          </a:p>
        </p:txBody>
      </p:sp>
    </p:spTree>
    <p:extLst>
      <p:ext uri="{BB962C8B-B14F-4D97-AF65-F5344CB8AC3E}">
        <p14:creationId xmlns:p14="http://schemas.microsoft.com/office/powerpoint/2010/main" val="1955272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D4A9-1157-A89B-E6DB-F4700418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252525"/>
                </a:solidFill>
              </a:rPr>
              <a:t>Packages (Project Dependencies) used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9AC7-BE38-9AF4-CC5B-346342A03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508760"/>
            <a:ext cx="5120640" cy="493776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5A5A5A"/>
                </a:solidFill>
              </a:rPr>
              <a:t>UiPath.System.Activities — core (Try Catch, If, For Each, Assign, Append Line, Log Message, Build Data Table, Add Data Row, Invoke Workflow File)</a:t>
            </a:r>
            <a:endParaRPr lang="en-SG" dirty="0"/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5A5A"/>
                </a:solidFill>
              </a:rPr>
              <a:t>UiPath.PDF.Activities — Read PDF Text and Read PDF With OCR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5A5A"/>
                </a:solidFill>
              </a:rPr>
              <a:t>UiPath.Excel.Activities — Use Excel File, Read Range, Write Range, Write Cell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5A5A"/>
                </a:solidFill>
              </a:rPr>
              <a:t>UiPath.Word.Activities — Word Application Scope, Replace Text in Document, Export to PDF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5A5A"/>
                </a:solidFill>
              </a:rPr>
              <a:t>UiPath.Mail.Activities — Send Outlook Mail Message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5A5A"/>
                </a:solidFill>
              </a:rPr>
              <a:t>UiPath.Python.Activities — Python Scope, Load Script, Invoke Method, Get Object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5A5A5A"/>
                </a:solidFill>
              </a:rPr>
              <a:t>UiPath.OCR.Activities — UiPath Document OCR engine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5DA993-3860-AF21-381F-6B18D64DE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56" y="1508760"/>
            <a:ext cx="6081023" cy="397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71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2485B6-BFEF-CA42-19CC-C66BD0B1E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7" r="4213" b="3"/>
          <a:stretch>
            <a:fillRect/>
          </a:stretch>
        </p:blipFill>
        <p:spPr>
          <a:xfrm>
            <a:off x="3136389" y="-10876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62D35E-A271-7A5C-3A3B-84E406877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0" r="2244" b="3"/>
          <a:stretch>
            <a:fillRect/>
          </a:stretch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D41BA3-1FB5-5B64-EE2B-E6EA784750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6" r="11705" b="2"/>
          <a:stretch>
            <a:fillRect/>
          </a:stretch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B387C-33A5-2FAA-C6FB-335BF74F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fr-FR" sz="2600" b="1"/>
              <a:t>Solution 1 — Patient Registration (Main.xaml)</a:t>
            </a:r>
            <a:endParaRPr lang="fr-FR" sz="2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90BAF-F558-4D03-CB1D-DA51EAD8A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258568"/>
            <a:ext cx="2807208" cy="3922776"/>
          </a:xfrm>
        </p:spPr>
        <p:txBody>
          <a:bodyPr>
            <a:normAutofit/>
          </a:bodyPr>
          <a:lstStyle/>
          <a:p>
            <a:pPr>
              <a:spcAft>
                <a:spcPts val="500"/>
              </a:spcAft>
            </a:pPr>
            <a:r>
              <a:rPr lang="en-US" sz="1100" b="1"/>
              <a:t>PDF in, validated Excel record out.</a:t>
            </a:r>
            <a:endParaRPr lang="en-US" sz="1100"/>
          </a:p>
          <a:p>
            <a:pPr lvl="1">
              <a:spcAft>
                <a:spcPts val="500"/>
              </a:spcAft>
            </a:pPr>
            <a:r>
              <a:rPr lang="en-US" sz="1100" b="0"/>
              <a:t>For Each over Directory.GetFiles processes every PDF in the Input folder — no filenames hard-coded.</a:t>
            </a:r>
          </a:p>
          <a:p>
            <a:pPr lvl="1">
              <a:spcAft>
                <a:spcPts val="500"/>
              </a:spcAft>
            </a:pPr>
            <a:r>
              <a:rPr lang="en-US" sz="1100" b="0"/>
              <a:t>Read PDF Text, with an If falling back to Read PDF With OCR for scanned forms.</a:t>
            </a:r>
          </a:p>
          <a:p>
            <a:pPr lvl="1">
              <a:spcAft>
                <a:spcPts val="500"/>
              </a:spcAft>
            </a:pPr>
            <a:r>
              <a:rPr lang="en-US" sz="1100" b="0"/>
              <a:t>Regex Multiple Assign extracts each labelled field into structured data.</a:t>
            </a:r>
          </a:p>
          <a:p>
            <a:pPr lvl="1">
              <a:spcAft>
                <a:spcPts val="500"/>
              </a:spcAft>
            </a:pPr>
            <a:r>
              <a:rPr lang="en-US" sz="1100" b="0"/>
              <a:t>Validation: required-field If, then Python checksum/format checks.</a:t>
            </a:r>
          </a:p>
          <a:p>
            <a:pPr lvl="1">
              <a:spcAft>
                <a:spcPts val="500"/>
              </a:spcAft>
            </a:pPr>
            <a:r>
              <a:rPr lang="en-US" sz="1100" b="0"/>
              <a:t>LINQ duplicate check, then Add Data Row + Write Range insert the new patient.</a:t>
            </a:r>
          </a:p>
          <a:p>
            <a:pPr lvl="1">
              <a:spcAft>
                <a:spcPts val="500"/>
              </a:spcAft>
            </a:pPr>
            <a:r>
              <a:rPr lang="en-US" sz="1100" b="0"/>
              <a:t>Every outcome logged: SUCCESS / MISSING / INVALID / DUPLICATE / ERROR.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60DBA0-0F88-2FAF-5681-99246C6E45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2" r="12590" b="2"/>
          <a:stretch>
            <a:fillRect/>
          </a:stretch>
        </p:blipFill>
        <p:spPr>
          <a:xfrm>
            <a:off x="7404372" y="10"/>
            <a:ext cx="4787628" cy="3401558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81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B387C-33A5-2FAA-C6FB-335BF74F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543183" cy="1454051"/>
          </a:xfrm>
        </p:spPr>
        <p:txBody>
          <a:bodyPr anchor="b">
            <a:normAutofit fontScale="90000"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Solution 2 — Appointment Scheduling &amp; Patient Data Entry</a:t>
            </a:r>
            <a:endParaRPr lang="en-US" sz="3600" dirty="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2514948" cy="2174333"/>
            <a:chOff x="-305" y="-4155"/>
            <a:chExt cx="2514948" cy="2174333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0C09B5E-D329-8384-A188-5139804E7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00"/>
          <a:stretch>
            <a:fillRect/>
          </a:stretch>
        </p:blipFill>
        <p:spPr>
          <a:xfrm>
            <a:off x="5858305" y="930809"/>
            <a:ext cx="6220545" cy="145405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90BAF-F558-4D03-CB1D-DA51EAD8A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650524" cy="3639289"/>
          </a:xfrm>
        </p:spPr>
        <p:txBody>
          <a:bodyPr anchor="ctr">
            <a:normAutofit/>
          </a:bodyPr>
          <a:lstStyle/>
          <a:p>
            <a:pPr>
              <a:spcAft>
                <a:spcPts val="500"/>
              </a:spcAft>
            </a:pPr>
            <a:r>
              <a:rPr lang="en-US" sz="1500" b="1">
                <a:solidFill>
                  <a:schemeClr val="tx2"/>
                </a:solidFill>
              </a:rPr>
              <a:t>AppointmentScheduling.xaml</a:t>
            </a:r>
            <a:endParaRPr lang="en-US" sz="1500">
              <a:solidFill>
                <a:schemeClr val="tx2"/>
              </a:solidFill>
            </a:endParaRPr>
          </a:p>
          <a:p>
            <a:pPr lvl="1">
              <a:spcAft>
                <a:spcPts val="500"/>
              </a:spcAft>
            </a:pPr>
            <a:r>
              <a:rPr lang="en-US" sz="1500" b="0">
                <a:solidFill>
                  <a:schemeClr val="tx2"/>
                </a:solidFill>
              </a:rPr>
              <a:t>One LINQ expression filters to available slots on/after the date, orders by date then time, and takes the earliest.</a:t>
            </a:r>
          </a:p>
          <a:p>
            <a:pPr lvl="1">
              <a:spcAft>
                <a:spcPts val="500"/>
              </a:spcAft>
            </a:pPr>
            <a:r>
              <a:rPr lang="en-US" sz="1500" b="0">
                <a:solidFill>
                  <a:schemeClr val="tx2"/>
                </a:solidFill>
              </a:rPr>
              <a:t>Marks the slot Booked, writes the table back, returns doctor / date / time. Logs BOOKED or NO SLOT.</a:t>
            </a:r>
          </a:p>
          <a:p>
            <a:pPr>
              <a:spcAft>
                <a:spcPts val="500"/>
              </a:spcAft>
            </a:pPr>
            <a:r>
              <a:rPr lang="en-US" sz="1500" b="1">
                <a:solidFill>
                  <a:schemeClr val="tx2"/>
                </a:solidFill>
              </a:rPr>
              <a:t>PatientDataEntry.xaml</a:t>
            </a:r>
          </a:p>
          <a:p>
            <a:pPr lvl="1">
              <a:spcAft>
                <a:spcPts val="500"/>
              </a:spcAft>
            </a:pPr>
            <a:r>
              <a:rPr lang="en-US" sz="1500" b="0">
                <a:solidFill>
                  <a:schemeClr val="tx2"/>
                </a:solidFill>
              </a:rPr>
              <a:t>Finds the patient by NRIC and updates doctor, time, report status, follow-up and last visit date.</a:t>
            </a:r>
          </a:p>
          <a:p>
            <a:pPr lvl="1">
              <a:spcAft>
                <a:spcPts val="500"/>
              </a:spcAft>
            </a:pPr>
            <a:r>
              <a:rPr lang="en-US" sz="1500" b="0">
                <a:solidFill>
                  <a:schemeClr val="tx2"/>
                </a:solidFill>
              </a:rPr>
              <a:t>Shows the robot maintains records, not only creates them. Logs UPDATED or NOT FOUND.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2102A6-B4E6-438C-A0E4-2C0B1A68D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3"/>
          <a:stretch>
            <a:fillRect/>
          </a:stretch>
        </p:blipFill>
        <p:spPr>
          <a:xfrm>
            <a:off x="6165273" y="2543817"/>
            <a:ext cx="5913577" cy="2784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0BB958-BA34-F208-FFDB-A6523A6286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935" y="5328019"/>
            <a:ext cx="6535065" cy="145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9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B387C-33A5-2FAA-C6FB-335BF74F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8408"/>
            <a:ext cx="3721608" cy="1106424"/>
          </a:xfrm>
        </p:spPr>
        <p:txBody>
          <a:bodyPr>
            <a:normAutofit/>
          </a:bodyPr>
          <a:lstStyle/>
          <a:p>
            <a:r>
              <a:rPr lang="en-US" sz="2400" b="1"/>
              <a:t>Solution 3 — Medical Report, Email &amp; Daily Summary</a:t>
            </a:r>
            <a:endParaRPr lang="en-US" sz="24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90BAF-F558-4D03-CB1D-DA51EAD8A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8296"/>
            <a:ext cx="3721608" cy="3502152"/>
          </a:xfrm>
        </p:spPr>
        <p:txBody>
          <a:bodyPr>
            <a:normAutofit/>
          </a:bodyPr>
          <a:lstStyle/>
          <a:p>
            <a:pPr>
              <a:spcAft>
                <a:spcPts val="500"/>
              </a:spcAft>
            </a:pPr>
            <a:r>
              <a:rPr lang="en-US" sz="1600" b="1"/>
              <a:t>MedicalReport.xaml</a:t>
            </a:r>
            <a:endParaRPr lang="en-US" sz="1600"/>
          </a:p>
          <a:p>
            <a:pPr lvl="1">
              <a:spcAft>
                <a:spcPts val="500"/>
              </a:spcAft>
            </a:pPr>
            <a:r>
              <a:rPr lang="en-US" sz="1600" b="0"/>
              <a:t>Copy File takes a fresh template; eight Replace Text in Document activities fill the placeholders; Export to PDF saves the report.</a:t>
            </a:r>
          </a:p>
          <a:p>
            <a:pPr>
              <a:spcAft>
                <a:spcPts val="500"/>
              </a:spcAft>
            </a:pPr>
            <a:r>
              <a:rPr lang="en-US" sz="1600" b="1"/>
              <a:t>EmailConfirmation.xaml</a:t>
            </a:r>
          </a:p>
          <a:p>
            <a:pPr lvl="1">
              <a:spcAft>
                <a:spcPts val="500"/>
              </a:spcAft>
            </a:pPr>
            <a:r>
              <a:rPr lang="en-US" sz="1600" b="0"/>
              <a:t>A personalised HTML confirmation with the report PDF attached.</a:t>
            </a:r>
          </a:p>
          <a:p>
            <a:pPr>
              <a:spcAft>
                <a:spcPts val="500"/>
              </a:spcAft>
            </a:pPr>
            <a:r>
              <a:rPr lang="en-US" sz="1600" b="1"/>
              <a:t>DailySummary.xaml</a:t>
            </a:r>
          </a:p>
          <a:p>
            <a:pPr lvl="1">
              <a:spcAft>
                <a:spcPts val="500"/>
              </a:spcAft>
            </a:pPr>
            <a:r>
              <a:rPr lang="en-US" sz="1600" b="0"/>
              <a:t>LINQ counts the day’s totals, Write Range saves the summary, and it is emailed to the clinic manager.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8DE3D1-E70E-3BEF-9D20-64ABEB50A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267" y="978915"/>
            <a:ext cx="3248351" cy="19977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AADF5B-B359-BCC0-A632-1638DD15D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914" y="978917"/>
            <a:ext cx="3248352" cy="19977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3F1FD5-4483-D9C6-51AB-A7B9E81AE9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268" y="3491076"/>
            <a:ext cx="3248352" cy="25824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27633A-0CDC-F98A-7BBE-2BF370644A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914" y="3895656"/>
            <a:ext cx="3248352" cy="177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7A87D8F-9102-4047-BDED-363F664AE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4" y="633616"/>
            <a:ext cx="4520912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B387C-33A5-2FAA-C6FB-335BF74F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8408"/>
            <a:ext cx="3721608" cy="1106424"/>
          </a:xfrm>
        </p:spPr>
        <p:txBody>
          <a:bodyPr>
            <a:normAutofit/>
          </a:bodyPr>
          <a:lstStyle/>
          <a:p>
            <a:r>
              <a:rPr lang="en-US" sz="2400" b="1"/>
              <a:t>Interesting functions — beyond opening &amp; reading files</a:t>
            </a:r>
            <a:endParaRPr lang="en-US" sz="24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480" y="2185416"/>
            <a:ext cx="3683187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90BAF-F558-4D03-CB1D-DA51EAD8A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8296"/>
            <a:ext cx="3721608" cy="3502152"/>
          </a:xfrm>
        </p:spPr>
        <p:txBody>
          <a:bodyPr>
            <a:normAutofit fontScale="55000" lnSpcReduction="20000"/>
          </a:bodyPr>
          <a:lstStyle/>
          <a:p>
            <a:pPr>
              <a:spcAft>
                <a:spcPts val="500"/>
              </a:spcAft>
            </a:pPr>
            <a:r>
              <a:rPr lang="en-US" sz="800" b="1" dirty="0"/>
              <a:t>Python validation engine — the most complex piece</a:t>
            </a:r>
            <a:endParaRPr lang="en-US" sz="800" dirty="0"/>
          </a:p>
          <a:p>
            <a:pPr lvl="1">
              <a:spcAft>
                <a:spcPts val="500"/>
              </a:spcAft>
            </a:pPr>
            <a:r>
              <a:rPr lang="en-US" sz="1400" b="0" dirty="0"/>
              <a:t>An external validation.py I wrote runs the real Singapore NRIC checksum — the weighted-digit algorithm and check letter — so IDs that pass a simple format check but are mathematically invalid are still rejected. It also validates email, phone and appointment-date logic. A genuine 5th application, beyond the syllabus.</a:t>
            </a:r>
          </a:p>
          <a:p>
            <a:pPr>
              <a:spcAft>
                <a:spcPts val="500"/>
              </a:spcAft>
            </a:pPr>
            <a:r>
              <a:rPr lang="en-US" sz="800" b="1" dirty="0"/>
              <a:t>AI-powered OCR fallback</a:t>
            </a:r>
          </a:p>
          <a:p>
            <a:pPr lvl="1">
              <a:spcAft>
                <a:spcPts val="500"/>
              </a:spcAft>
            </a:pPr>
            <a:r>
              <a:rPr lang="en-US" sz="1900" b="0" dirty="0"/>
              <a:t>The robot detects when Read PDF Text returns nothing (a scanned or image-based form) and self-recovers by re-reading the same file with Read PDF With OCR (UiPath Document OCR) — resilience through decision logic, not a fixed path.</a:t>
            </a:r>
          </a:p>
          <a:p>
            <a:pPr>
              <a:spcAft>
                <a:spcPts val="500"/>
              </a:spcAft>
            </a:pPr>
            <a:r>
              <a:rPr lang="en-US" sz="800" b="1" dirty="0"/>
              <a:t>Regex extraction &amp; LINQ querying</a:t>
            </a:r>
          </a:p>
          <a:p>
            <a:pPr lvl="1">
              <a:spcAft>
                <a:spcPts val="500"/>
              </a:spcAft>
            </a:pPr>
            <a:r>
              <a:rPr lang="en-US" sz="2000" b="0" dirty="0" err="1"/>
              <a:t>Regex.Match</a:t>
            </a:r>
            <a:r>
              <a:rPr lang="en-US" sz="2000" b="0" dirty="0"/>
              <a:t> turns unstructured PDF text into structured fields. A single LINQ chain — Where + </a:t>
            </a:r>
            <a:r>
              <a:rPr lang="en-US" sz="2000" b="0" dirty="0" err="1"/>
              <a:t>OrderBy</a:t>
            </a:r>
            <a:r>
              <a:rPr lang="en-US" sz="2000" b="0" dirty="0"/>
              <a:t> + </a:t>
            </a:r>
            <a:r>
              <a:rPr lang="en-US" sz="2000" b="0" dirty="0" err="1"/>
              <a:t>ThenBy</a:t>
            </a:r>
            <a:r>
              <a:rPr lang="en-US" sz="2000" b="0" dirty="0"/>
              <a:t> + </a:t>
            </a:r>
            <a:r>
              <a:rPr lang="en-US" sz="2000" b="0" dirty="0" err="1"/>
              <a:t>FirstOrDefault</a:t>
            </a:r>
            <a:r>
              <a:rPr lang="en-US" sz="2000" b="0" dirty="0"/>
              <a:t>, with culture-aware parsing across two date formats — finds the earliest suitable slot in one expression; Any() handles de-duplication.</a:t>
            </a:r>
          </a:p>
          <a:p>
            <a:pPr lvl="1">
              <a:spcAft>
                <a:spcPts val="500"/>
              </a:spcAft>
            </a:pPr>
            <a:r>
              <a:rPr lang="en-US" sz="2000" b="0" dirty="0"/>
              <a:t>Dynamic multi-file loop, </a:t>
            </a:r>
            <a:r>
              <a:rPr lang="en-US" sz="2000" b="0" dirty="0" err="1"/>
              <a:t>Word→PDF</a:t>
            </a:r>
            <a:r>
              <a:rPr lang="en-US" sz="2000" b="0" dirty="0"/>
              <a:t> merge, HTML email with attachments.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6D45C0-0748-F036-0CDB-5D4146E3F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08" b="5"/>
          <a:stretch>
            <a:fillRect/>
          </a:stretch>
        </p:blipFill>
        <p:spPr>
          <a:xfrm>
            <a:off x="5177428" y="633616"/>
            <a:ext cx="2975972" cy="2057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D16462-2E66-93FB-89CB-9C2883308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" r="50643" b="1"/>
          <a:stretch>
            <a:fillRect/>
          </a:stretch>
        </p:blipFill>
        <p:spPr>
          <a:xfrm>
            <a:off x="5177427" y="2791980"/>
            <a:ext cx="2975973" cy="3337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0C6AE7-BDD3-4428-2533-142AE6AAE5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" r="20853"/>
          <a:stretch>
            <a:fillRect/>
          </a:stretch>
        </p:blipFill>
        <p:spPr>
          <a:xfrm>
            <a:off x="8267379" y="633617"/>
            <a:ext cx="3515047" cy="3266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39A727-6B2A-34E8-A407-3F25CD257B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1550"/>
          <a:stretch>
            <a:fillRect/>
          </a:stretch>
        </p:blipFill>
        <p:spPr>
          <a:xfrm>
            <a:off x="8267379" y="4001192"/>
            <a:ext cx="3515047" cy="212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B387C-33A5-2FAA-C6FB-335BF74F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anchor="b">
            <a:normAutofit/>
          </a:bodyPr>
          <a:lstStyle/>
          <a:p>
            <a:r>
              <a:rPr lang="en-SG" sz="5200" b="1"/>
              <a:t>Error handling &amp; validation</a:t>
            </a:r>
            <a:endParaRPr lang="en-SG" sz="52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878B27-FD79-FEDF-C715-99137C7C60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79" b="3364"/>
          <a:stretch>
            <a:fillRect/>
          </a:stretch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90BAF-F558-4D03-CB1D-DA51EAD8A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72784" cy="2825496"/>
          </a:xfrm>
        </p:spPr>
        <p:txBody>
          <a:bodyPr>
            <a:normAutofit/>
          </a:bodyPr>
          <a:lstStyle/>
          <a:p>
            <a:pPr>
              <a:spcAft>
                <a:spcPts val="500"/>
              </a:spcAft>
            </a:pPr>
            <a:r>
              <a:rPr lang="en-US" sz="1200" b="1"/>
              <a:t>Layer 1 — Try Catch everywhere</a:t>
            </a:r>
            <a:endParaRPr lang="en-US" sz="1200"/>
          </a:p>
          <a:p>
            <a:pPr lvl="1">
              <a:spcAft>
                <a:spcPts val="500"/>
              </a:spcAft>
            </a:pPr>
            <a:r>
              <a:rPr lang="en-US" sz="1200" b="0"/>
              <a:t>Main and all five sub-workflows are wrapped in Try Catch; each Catch logs the error and the robot ends cleanly instead of crashing.</a:t>
            </a:r>
          </a:p>
          <a:p>
            <a:pPr>
              <a:spcAft>
                <a:spcPts val="500"/>
              </a:spcAft>
            </a:pPr>
            <a:r>
              <a:rPr lang="en-US" sz="1200" b="1"/>
              <a:t>Layer 2 — validation first</a:t>
            </a:r>
          </a:p>
          <a:p>
            <a:pPr lvl="1">
              <a:spcAft>
                <a:spcPts val="500"/>
              </a:spcAft>
            </a:pPr>
            <a:r>
              <a:rPr lang="en-US" sz="1200" b="0"/>
              <a:t>Required fields, Python checksum/format checks, duplicate detection, no-slot and not-found paths — bad data never reaches the database.</a:t>
            </a:r>
          </a:p>
          <a:p>
            <a:pPr>
              <a:spcAft>
                <a:spcPts val="500"/>
              </a:spcAft>
            </a:pPr>
            <a:r>
              <a:rPr lang="en-US" sz="1200" b="1"/>
              <a:t>Layer 3 — full transaction logging</a:t>
            </a:r>
          </a:p>
          <a:p>
            <a:pPr lvl="1">
              <a:spcAft>
                <a:spcPts val="500"/>
              </a:spcAft>
            </a:pPr>
            <a:r>
              <a:rPr lang="en-US" sz="1200" b="0"/>
              <a:t>Every outcome is written to ProcessLog.txt with a timestamp — a complete audit trail.</a:t>
            </a:r>
          </a:p>
          <a:p>
            <a:pPr lvl="1">
              <a:spcAft>
                <a:spcPts val="500"/>
              </a:spcAft>
            </a:pPr>
            <a:r>
              <a:rPr lang="en-US" sz="1200" b="0"/>
              <a:t>Tested: unreadable/renamed PDF, missing field, invalid NRIC, duplicate, no slot, bad date, locked Excel — all caught, none crashed.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4EF815-0F16-DA3F-0AF5-48D6F73BA3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17" b="16089"/>
          <a:stretch>
            <a:fillRect/>
          </a:stretch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D2F2D-2D20-823A-44B7-EE7175699A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81" b="6393"/>
          <a:stretch>
            <a:fillRect/>
          </a:stretch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B387C-33A5-2FAA-C6FB-335BF74F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06091" cy="1325563"/>
          </a:xfrm>
        </p:spPr>
        <p:txBody>
          <a:bodyPr>
            <a:normAutofit fontScale="90000"/>
          </a:bodyPr>
          <a:lstStyle/>
          <a:p>
            <a:r>
              <a:rPr sz="3000" b="1" dirty="0">
                <a:solidFill>
                  <a:srgbClr val="252525"/>
                </a:solidFill>
              </a:rPr>
              <a:t>Deployment &amp; Orchestration — UiPath Orchestrator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90BAF-F558-4D03-CB1D-DA51EAD8A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481328"/>
            <a:ext cx="4160520" cy="5029200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5B2C8D"/>
                </a:solidFill>
              </a:rPr>
              <a:t>Published &amp; deployed</a:t>
            </a:r>
            <a:endParaRPr lang="en-SG" dirty="0"/>
          </a:p>
          <a:p>
            <a:pPr lvl="1">
              <a:spcAft>
                <a:spcPts val="500"/>
              </a:spcAft>
            </a:pPr>
            <a:r>
              <a:rPr sz="1100" b="0" dirty="0">
                <a:solidFill>
                  <a:srgbClr val="5A5A5A"/>
                </a:solidFill>
              </a:rPr>
              <a:t>Published from Studio to the Orchestrator Tenant feed as </a:t>
            </a:r>
            <a:r>
              <a:rPr sz="1100" b="0" dirty="0" err="1">
                <a:solidFill>
                  <a:srgbClr val="5A5A5A"/>
                </a:solidFill>
              </a:rPr>
              <a:t>Hope_HealthcareAdmin</a:t>
            </a:r>
            <a:r>
              <a:rPr sz="1100" b="0" dirty="0">
                <a:solidFill>
                  <a:srgbClr val="5A5A5A"/>
                </a:solidFill>
              </a:rPr>
              <a:t>, then deployed in the workspace as the process HOPE — entry point </a:t>
            </a:r>
            <a:r>
              <a:rPr sz="1100" b="0" dirty="0" err="1">
                <a:solidFill>
                  <a:srgbClr val="5A5A5A"/>
                </a:solidFill>
              </a:rPr>
              <a:t>Main.xaml</a:t>
            </a:r>
            <a:r>
              <a:rPr sz="1100" b="0" dirty="0">
                <a:solidFill>
                  <a:srgbClr val="5A5A5A"/>
                </a:solidFill>
              </a:rPr>
              <a:t>, runtime Production (Unattended).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5B2C8D"/>
                </a:solidFill>
              </a:rPr>
              <a:t>Two triggers — scheduled + on-demand</a:t>
            </a:r>
          </a:p>
          <a:p>
            <a:pPr lvl="1">
              <a:spcAft>
                <a:spcPts val="500"/>
              </a:spcAft>
            </a:pPr>
            <a:r>
              <a:rPr sz="1100" b="0" dirty="0">
                <a:solidFill>
                  <a:srgbClr val="5A5A5A"/>
                </a:solidFill>
              </a:rPr>
              <a:t>Time trigger HOPE_TIME runs the process automatically at 08:00 daily — the scheduled overnight batch, no human needed.</a:t>
            </a:r>
          </a:p>
          <a:p>
            <a:pPr lvl="1">
              <a:spcAft>
                <a:spcPts val="500"/>
              </a:spcAft>
            </a:pPr>
            <a:r>
              <a:rPr sz="1100" b="0" dirty="0">
                <a:solidFill>
                  <a:srgbClr val="5A5A5A"/>
                </a:solidFill>
              </a:rPr>
              <a:t>API trigger HOPE_API exposes an HTTP endpoint (POST /hope-registration) so an external system — e.g. the clinic’s online form — can start the robot on demand, in real time. Secured with a bearer personal access token (scoped </a:t>
            </a:r>
            <a:r>
              <a:rPr sz="1100" b="0" dirty="0" err="1">
                <a:solidFill>
                  <a:srgbClr val="5A5A5A"/>
                </a:solidFill>
              </a:rPr>
              <a:t>OR.Jobs</a:t>
            </a:r>
            <a:r>
              <a:rPr sz="1100" b="0" dirty="0">
                <a:solidFill>
                  <a:srgbClr val="5A5A5A"/>
                </a:solidFill>
              </a:rPr>
              <a:t> + </a:t>
            </a:r>
            <a:r>
              <a:rPr sz="1100" b="0" dirty="0" err="1">
                <a:solidFill>
                  <a:srgbClr val="5A5A5A"/>
                </a:solidFill>
              </a:rPr>
              <a:t>OR.Execution</a:t>
            </a:r>
            <a:r>
              <a:rPr sz="1100" b="0" dirty="0">
                <a:solidFill>
                  <a:srgbClr val="5A5A5A"/>
                </a:solidFill>
              </a:rPr>
              <a:t>); async polling returns a job ID to poll.</a:t>
            </a: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5B2C8D"/>
                </a:solidFill>
              </a:rPr>
              <a:t>Why two triggers</a:t>
            </a:r>
          </a:p>
          <a:p>
            <a:pPr lvl="1">
              <a:spcAft>
                <a:spcPts val="500"/>
              </a:spcAft>
            </a:pPr>
            <a:r>
              <a:rPr sz="1100" b="0" dirty="0">
                <a:solidFill>
                  <a:srgbClr val="5A5A5A"/>
                </a:solidFill>
              </a:rPr>
              <a:t>Forms accumulate overnight, so a scheduled batch clears them and emails the manager a summary before the clinic opens — while the API trigger handles real-time registrations the moment a form is submitted. One robot, both scheduled and event-driven.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B5475-C13C-C293-6483-DBBF22D72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490" y="0"/>
            <a:ext cx="6990510" cy="17196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43F09-DFCD-5E9F-4645-1837E8E0A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560" y="1678284"/>
            <a:ext cx="6899440" cy="13481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9EAB94-8BF5-2A51-67D2-F2727972BD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345" y="3179386"/>
            <a:ext cx="6795655" cy="367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85492-FFBB-9FD5-D26A-A696EC619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>
                <a:solidFill>
                  <a:srgbClr val="252525"/>
                </a:solidFill>
              </a:rPr>
              <a:t>YouTube link for demo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44CB8-CB1F-D855-A8CE-8F9AB7222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3200" b="1" dirty="0">
                <a:solidFill>
                  <a:srgbClr val="5B2C8D"/>
                </a:solidFill>
              </a:rPr>
              <a:t>Demonstration video</a:t>
            </a:r>
            <a:endParaRPr lang="en-SG" sz="3200" dirty="0"/>
          </a:p>
          <a:p>
            <a:pPr lvl="1">
              <a:spcAft>
                <a:spcPts val="500"/>
              </a:spcAft>
            </a:pPr>
            <a:r>
              <a:rPr lang="en-SG" sz="3200" b="1" dirty="0">
                <a:solidFill>
                  <a:srgbClr val="B03838"/>
                </a:solidFill>
              </a:rPr>
              <a:t>https://youtu.be/l6jAJ_IoZ1s?si=WhRtD23LPnYX5bYq</a:t>
            </a:r>
            <a:endParaRPr sz="3200" b="1" dirty="0">
              <a:solidFill>
                <a:srgbClr val="B03838"/>
              </a:solidFill>
            </a:endParaRPr>
          </a:p>
          <a:p>
            <a:pPr>
              <a:spcAft>
                <a:spcPts val="500"/>
              </a:spcAft>
            </a:pPr>
            <a:endParaRPr sz="1300" b="1" dirty="0">
              <a:solidFill>
                <a:srgbClr val="B0383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551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E156-259E-15B7-4BFD-B121D749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252525"/>
                </a:solidFill>
              </a:rPr>
              <a:t>References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77BE7-FDBA-FA3A-2681-A04832EA2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5A5A5A"/>
                </a:solidFill>
              </a:rPr>
              <a:t>UiPath. (2026). UiPath Studio and Orchestrator documentation. https://docs.uipath.com</a:t>
            </a:r>
            <a:endParaRPr lang="en-SG"/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5A5A"/>
                </a:solidFill>
              </a:rPr>
              <a:t>UiPath. (2026). Python Activities package documentation. https://docs.uipath.com/activities/other/latest/developer/python-scope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5A5A"/>
                </a:solidFill>
              </a:rPr>
              <a:t>UiPath. (2026). PDF Activities — Read PDF With OCR. https://docs.uipath.com/activities/other/latest/developer/read-pdf-with-ocr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5A5A"/>
                </a:solidFill>
              </a:rPr>
              <a:t>Microsoft. (2026). LINQ query expressions (Visual Basic). https://learn.microsoft.com/en-us/dotnet/visual-basic/programming-guide/language-features/linq/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5A5A"/>
                </a:solidFill>
              </a:rPr>
              <a:t>Leuchter, R. K., Delarmente, B. A., Vangala, S., Tsugawa, Y., &amp; Sarkisian, C. A. (2025). Health care staffing shortages and potential national hospital bed shortage. JAMA Network Open, 8(2), e2460645.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5A5A"/>
                </a:solidFill>
              </a:rPr>
              <a:t>Executive Board, &amp; Director-General. (2024). Global strategy on human resources for health: workforce 2030. World Health Organisation.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5A5A"/>
                </a:solidFill>
              </a:rPr>
              <a:t>Ministry of Health Singapore. (n.d.). Healthcare manpower demand. https://www.moh.gov.sg/newsroom/healthcare-manpower-demand/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5A5A"/>
                </a:solidFill>
              </a:rPr>
              <a:t>Ministry of Health Singapore. (n.d.). Current healthcare workforce strength compared against projected service demand.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5A5A5A"/>
                </a:solidFill>
              </a:rPr>
              <a:t>Corestaff Pte Ltd. (2026). Healthcare recruitment Singapore: addressing the critical shortage of medical professionals in 2026.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52525"/>
                </a:solidFill>
              </a:rPr>
              <a:t>Generative AI (Anthropic Claude) was used to assist with planning the workflow structure, troubleshooting UiPath activity configuration and drafting documentation. All output was reviewed, modified and implemented by the author.</a:t>
            </a:r>
          </a:p>
        </p:txBody>
      </p:sp>
    </p:spTree>
    <p:extLst>
      <p:ext uri="{BB962C8B-B14F-4D97-AF65-F5344CB8AC3E}">
        <p14:creationId xmlns:p14="http://schemas.microsoft.com/office/powerpoint/2010/main" val="2745718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205407-e844-44f4-a704-524443cf3599" xsi:nil="true"/>
    <lcf76f155ced4ddcb4097134ff3c332f xmlns="0121faca-6edc-4c38-a0c5-20e2ba8c757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C6A7D617B1142B7A64829AE762BF8" ma:contentTypeVersion="18" ma:contentTypeDescription="Create a new document." ma:contentTypeScope="" ma:versionID="26ce053046391cec0b5ef9d54514298d">
  <xsd:schema xmlns:xsd="http://www.w3.org/2001/XMLSchema" xmlns:xs="http://www.w3.org/2001/XMLSchema" xmlns:p="http://schemas.microsoft.com/office/2006/metadata/properties" xmlns:ns2="aa205407-e844-44f4-a704-524443cf3599" xmlns:ns3="0121faca-6edc-4c38-a0c5-20e2ba8c7570" targetNamespace="http://schemas.microsoft.com/office/2006/metadata/properties" ma:root="true" ma:fieldsID="9669ddbb5b69187b6ba0b09ea578fc7b" ns2:_="" ns3:_="">
    <xsd:import namespace="aa205407-e844-44f4-a704-524443cf3599"/>
    <xsd:import namespace="0121faca-6edc-4c38-a0c5-20e2ba8c757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205407-e844-44f4-a704-524443cf3599" elementFormDefault="qualified">
    <xsd:import namespace="http://schemas.microsoft.com/office/2006/documentManagement/types"/>
    <xsd:import namespace="http://schemas.microsoft.com/office/infopath/2007/PartnerControls"/>
    <xsd:element name="SharedWithUsers" ma:index="4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c87a7b3-0ed2-499c-bc30-4d2170d1b8f1}" ma:internalName="TaxCatchAll" ma:showField="CatchAllData" ma:web="aa205407-e844-44f4-a704-524443cf35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1faca-6edc-4c38-a0c5-20e2ba8c7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45bf55a-4f35-4525-96d9-1748649c08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960DE4-3A8D-4B07-BFA1-8D519768540D}">
  <ds:schemaRefs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0121faca-6edc-4c38-a0c5-20e2ba8c7570"/>
    <ds:schemaRef ds:uri="http://purl.org/dc/terms/"/>
    <ds:schemaRef ds:uri="http://purl.org/dc/dcmitype/"/>
    <ds:schemaRef ds:uri="http://schemas.openxmlformats.org/package/2006/metadata/core-properties"/>
    <ds:schemaRef ds:uri="aa205407-e844-44f4-a704-524443cf3599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BA5DBF0-A091-4C36-B504-6DA5585D8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205407-e844-44f4-a704-524443cf3599"/>
    <ds:schemaRef ds:uri="0121faca-6edc-4c38-a0c5-20e2ba8c75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FA54BC-A425-4AFB-917C-42E4DA63F5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1526</Words>
  <Application>Microsoft Office PowerPoint</Application>
  <PresentationFormat>Widescreen</PresentationFormat>
  <Paragraphs>109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Kollektif Bold</vt:lpstr>
      <vt:lpstr>Office Theme</vt:lpstr>
      <vt:lpstr>H.O.P.E Home Of Primary Envisage</vt:lpstr>
      <vt:lpstr>Problem statement</vt:lpstr>
      <vt:lpstr>Process</vt:lpstr>
      <vt:lpstr>Packages (Project Dependencies) used</vt:lpstr>
      <vt:lpstr>Solution 1 — Patient Registration (Main.xaml)</vt:lpstr>
      <vt:lpstr>Solution 2 — Appointment Scheduling &amp; Patient Data Entry</vt:lpstr>
      <vt:lpstr>Solution 3 — Medical Report, Email &amp; Daily Summary</vt:lpstr>
      <vt:lpstr>Interesting functions — beyond opening &amp; reading files</vt:lpstr>
      <vt:lpstr>Error handling &amp; validation</vt:lpstr>
      <vt:lpstr>Deployment &amp; Orchestration — UiPath Orchestrator</vt:lpstr>
      <vt:lpstr>YouTube link for demo</vt:lpstr>
      <vt:lpstr>References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RPA Project Report</dc:title>
  <dc:creator>Maheswari RAMASAMY SAKTHIVELU (TP)</dc:creator>
  <cp:lastModifiedBy>Ghazi Alsagoff</cp:lastModifiedBy>
  <cp:revision>7</cp:revision>
  <dcterms:created xsi:type="dcterms:W3CDTF">2022-10-07T05:57:08Z</dcterms:created>
  <dcterms:modified xsi:type="dcterms:W3CDTF">2026-08-12T08:30:06Z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b68b73-d603-4e7f-85b0-08f331d65276_Enabled">
    <vt:lpwstr>true</vt:lpwstr>
  </property>
  <property fmtid="{D5CDD505-2E9C-101B-9397-08002B2CF9AE}" pid="3" name="MSIP_Label_23b68b73-d603-4e7f-85b0-08f331d65276_SetDate">
    <vt:lpwstr>2022-10-07T06:08:10Z</vt:lpwstr>
  </property>
  <property fmtid="{D5CDD505-2E9C-101B-9397-08002B2CF9AE}" pid="4" name="MSIP_Label_23b68b73-d603-4e7f-85b0-08f331d65276_Method">
    <vt:lpwstr>Privileged</vt:lpwstr>
  </property>
  <property fmtid="{D5CDD505-2E9C-101B-9397-08002B2CF9AE}" pid="5" name="MSIP_Label_23b68b73-d603-4e7f-85b0-08f331d65276_Name">
    <vt:lpwstr>Sensitive Normal</vt:lpwstr>
  </property>
  <property fmtid="{D5CDD505-2E9C-101B-9397-08002B2CF9AE}" pid="6" name="MSIP_Label_23b68b73-d603-4e7f-85b0-08f331d65276_SiteId">
    <vt:lpwstr>25a99bf0-8e72-472a-ae50-adfbdf0df6f1</vt:lpwstr>
  </property>
  <property fmtid="{D5CDD505-2E9C-101B-9397-08002B2CF9AE}" pid="7" name="MSIP_Label_23b68b73-d603-4e7f-85b0-08f331d65276_ActionId">
    <vt:lpwstr>87892bde-6901-46c3-93b2-7ba3f8afb66d</vt:lpwstr>
  </property>
  <property fmtid="{D5CDD505-2E9C-101B-9397-08002B2CF9AE}" pid="8" name="MSIP_Label_23b68b73-d603-4e7f-85b0-08f331d65276_ContentBits">
    <vt:lpwstr>0</vt:lpwstr>
  </property>
  <property fmtid="{D5CDD505-2E9C-101B-9397-08002B2CF9AE}" pid="9" name="ContentTypeId">
    <vt:lpwstr>0x01010024AC6A7D617B1142B7A64829AE762BF8</vt:lpwstr>
  </property>
  <property fmtid="{D5CDD505-2E9C-101B-9397-08002B2CF9AE}" pid="10" name="MediaServiceImageTags">
    <vt:lpwstr/>
  </property>
</Properties>
</file>